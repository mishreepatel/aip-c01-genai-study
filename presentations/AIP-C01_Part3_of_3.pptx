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Part 3 of 3, the final part of the series. Briefly recap Parts 1 and 2: exam overview and Bedrock basics, then RAG, agents, and deployment. Today we close out with safety and security, cost and performance, and evaluation and troubleshooting.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Security and responsible AI is another area the exam leans on heavily, so let's walk through the flow, and I'll point you to the diagram on screen as we go. A request doesn't go straight from the user to the model and back - there's a guardrail check on the way in, and another one on the way out.
On the input side, Amazon Bedrock Guardrails can block denied topics, filter harmful content, and catch things like prompt injection attempts before they ever reach the foundation model. The model then generates its response as normal. But that response doesn't go straight back to the user either - it passes through another guardrail check on the output side, which filters toxic content, blocks anything off-topic, and can redact sensitive information using tools like Amazon Comprehend or Macie for PII detection.
Layered on top of that is governance: tracking data lineage, logging every decision with CloudTrail for audits, and documenting a model's limitations through model cards. And responsible AI ties it together with transparency and fairness evaluation - things like showing users why a model produced a certain answer, and systematically testing for bias. On the exam, remember: safety isn't one control, it's this input-model-output loop, with governance wrapped around the whole 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let's talk about keeping a GenAI application fast and affordable - because on this exam, the most powerful model is almost never the correct answer if a cheaper one gets the job done.
Cost in GenAI is mostly driven by tokens - every token in and out of the model costs money, so techniques like prompt compression, trimming unnecessary context, and putting limits on response length all directly reduce your bill. A related idea is model selection: instead of routing every single request to your most capable and most expensive model, you tier requests - simple queries go to a smaller, cheaper model, and only the complex ones go to the big one.
Caching is another big lever. If users are asking near-identical questions, semantic caching lets you reuse a previous response instead of paying for a new model call every time. And for performance more broadly, this is where CloudWatch comes in - tracking token usage, latency, and response quality over time, with anomaly detection that flags unusual spikes in cost or unexpected changes in behavior. On the exam, when a question gives you a cost or latency constraint, that's your cue: they're testing whether you'll reach for the biggest model, or the right-sized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 topic for this series, and it's the one that ties everything together: how do you actually know your GenAI system is working, and what do you do when it isn't?
Traditional ML evaluation isn't enough here - you're not just measuring accuracy on a fixed dataset, you're measuring things like relevance, factual accuracy, consistency, and fluency, which are much harder to pin down. One popular technique is LLM-as-a-judge: you use a foundation model to score another model's outputs at scale, instead of relying purely on manual human review. For RAG systems specifically, you evaluate retrieval and generation separately - the retrieval step can fail even when generation is perfect, and vice versa, so you need visibility into both.
When something does go wrong, the exam wants you to know where to look. Common failure points are context window overflow, where too much text gets truncated and the model loses information; prompt confusion, where poorly structured instructions lead to inconsistent answers; and embedding or retrieval drift, where your vector store starts returning less relevant results over time. In almost every troubleshooting scenario on this exam, the fix lives in the data, the prompt, or the retrieval pipeline - rarely in the model itself. That's a great note to end the series on: this exam rewards understanding the full lifecycle, not just getting a model to respond once.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F3E"/>
        </a:solidFill>
      </p:bgPr>
    </p:bg>
    <p:spTree>
      <p:nvGrpSpPr>
        <p:cNvPr id="1" name=""/>
        <p:cNvGrpSpPr/>
        <p:nvPr/>
      </p:nvGrpSpPr>
      <p:grpSpPr>
        <a:xfrm>
          <a:off x="0" y="0"/>
          <a:ext cx="0" cy="0"/>
          <a:chOff x="0" y="0"/>
          <a:chExt cx="0" cy="0"/>
        </a:xfrm>
      </p:grpSpPr>
      <p:sp>
        <p:nvSpPr>
          <p:cNvPr id="2" name="Shape 0"/>
          <p:cNvSpPr/>
          <p:nvPr/>
        </p:nvSpPr>
        <p:spPr>
          <a:xfrm>
            <a:off x="9692640" y="-1463040"/>
            <a:ext cx="4572000" cy="4572000"/>
          </a:xfrm>
          <a:prstGeom prst="ellipse">
            <a:avLst/>
          </a:prstGeom>
          <a:solidFill>
            <a:srgbClr val="2E3F52"/>
          </a:solidFill>
          <a:ln/>
        </p:spPr>
      </p:sp>
      <p:sp>
        <p:nvSpPr>
          <p:cNvPr id="3" name="Shape 1"/>
          <p:cNvSpPr/>
          <p:nvPr/>
        </p:nvSpPr>
        <p:spPr>
          <a:xfrm>
            <a:off x="-1645920" y="4754880"/>
            <a:ext cx="3840480" cy="3840480"/>
          </a:xfrm>
          <a:prstGeom prst="ellipse">
            <a:avLst/>
          </a:prstGeom>
          <a:solidFill>
            <a:srgbClr val="2E3F52"/>
          </a:solidFill>
          <a:ln/>
        </p:spPr>
      </p:sp>
      <p:sp>
        <p:nvSpPr>
          <p:cNvPr id="4" name="Shape 2"/>
          <p:cNvSpPr/>
          <p:nvPr/>
        </p:nvSpPr>
        <p:spPr>
          <a:xfrm>
            <a:off x="822960" y="1005840"/>
            <a:ext cx="1188720" cy="1188720"/>
          </a:xfrm>
          <a:prstGeom prst="ellipse">
            <a:avLst/>
          </a:prstGeom>
          <a:solidFill>
            <a:srgbClr val="FF9900"/>
          </a:solidFill>
          <a:ln/>
        </p:spPr>
      </p:sp>
      <p:pic>
        <p:nvPicPr>
          <p:cNvPr id="5" name="Image 0" descr="preencoded.png">    </p:cNvPr>
          <p:cNvPicPr>
            <a:picLocks noChangeAspect="1"/>
          </p:cNvPicPr>
          <p:nvPr/>
        </p:nvPicPr>
        <p:blipFill>
          <a:blip r:embed="rId1"/>
          <a:stretch>
            <a:fillRect/>
          </a:stretch>
        </p:blipFill>
        <p:spPr>
          <a:xfrm>
            <a:off x="1078992" y="1261872"/>
            <a:ext cx="676656" cy="676656"/>
          </a:xfrm>
          <a:prstGeom prst="rect">
            <a:avLst/>
          </a:prstGeom>
        </p:spPr>
      </p:pic>
      <p:sp>
        <p:nvSpPr>
          <p:cNvPr id="6" name="Text 3"/>
          <p:cNvSpPr txBox="1"/>
          <p:nvPr/>
        </p:nvSpPr>
        <p:spPr>
          <a:xfrm>
            <a:off x="822960" y="2468880"/>
            <a:ext cx="9875520" cy="1737360"/>
          </a:xfrm>
          <a:prstGeom prst="rect">
            <a:avLst/>
          </a:prstGeom>
          <a:noFill/>
          <a:ln/>
        </p:spPr>
        <p:txBody>
          <a:bodyPr wrap="square" lIns="0" tIns="0" rIns="0" bIns="0" rtlCol="0" anchor="ctr"/>
          <a:lstStyle/>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AWS Certified Generative AI</a:t>
            </a:r>
            <a:endParaRPr lang="en-US" sz="4000" dirty="0"/>
          </a:p>
          <a:p>
            <a:pPr indent="0" marL="0">
              <a:lnSpc>
                <a:spcPct val="105000"/>
              </a:lnSpc>
              <a:buNone/>
            </a:pPr>
            <a:r>
              <a:rPr lang="en-US" sz="4000" b="1" dirty="0">
                <a:solidFill>
                  <a:srgbClr val="FFFFFF"/>
                </a:solidFill>
                <a:latin typeface="Cambria" pitchFamily="34" charset="0"/>
                <a:ea typeface="Cambria" pitchFamily="34" charset="-122"/>
                <a:cs typeface="Cambria" pitchFamily="34" charset="-120"/>
              </a:rPr>
              <a:t>Developer – Professional</a:t>
            </a:r>
            <a:endParaRPr lang="en-US" sz="4000" dirty="0"/>
          </a:p>
        </p:txBody>
      </p:sp>
      <p:sp>
        <p:nvSpPr>
          <p:cNvPr id="7" name="Text 4"/>
          <p:cNvSpPr txBox="1"/>
          <p:nvPr/>
        </p:nvSpPr>
        <p:spPr>
          <a:xfrm>
            <a:off x="841248" y="4114800"/>
            <a:ext cx="10058400" cy="457200"/>
          </a:xfrm>
          <a:prstGeom prst="rect">
            <a:avLst/>
          </a:prstGeom>
          <a:noFill/>
          <a:ln/>
        </p:spPr>
        <p:txBody>
          <a:bodyPr wrap="square" lIns="0" tIns="0" rIns="0" bIns="0" rtlCol="0" anchor="ctr"/>
          <a:lstStyle/>
          <a:p>
            <a:pPr indent="0" marL="0">
              <a:buNone/>
            </a:pPr>
            <a:r>
              <a:rPr lang="en-US" sz="2000" i="1" dirty="0">
                <a:solidFill>
                  <a:srgbClr val="FF9900"/>
                </a:solidFill>
                <a:latin typeface="Calibri" pitchFamily="34" charset="0"/>
                <a:ea typeface="Calibri" pitchFamily="34" charset="-122"/>
                <a:cs typeface="Calibri" pitchFamily="34" charset="-120"/>
              </a:rPr>
              <a:t>AIP-C01  ·  Part 3 of 3 · Safety, Cost &amp; Evaluation</a:t>
            </a:r>
            <a:endParaRPr lang="en-US" sz="2000" dirty="0"/>
          </a:p>
        </p:txBody>
      </p:sp>
      <p:sp>
        <p:nvSpPr>
          <p:cNvPr id="8" name="Text 5"/>
          <p:cNvSpPr txBox="1"/>
          <p:nvPr/>
        </p:nvSpPr>
        <p:spPr>
          <a:xfrm>
            <a:off x="841248" y="4663440"/>
            <a:ext cx="7315200" cy="365760"/>
          </a:xfrm>
          <a:prstGeom prst="rect">
            <a:avLst/>
          </a:prstGeom>
          <a:noFill/>
          <a:ln/>
        </p:spPr>
        <p:txBody>
          <a:bodyPr wrap="square" lIns="0" tIns="0" rIns="0" bIns="0" rtlCol="0" anchor="ctr"/>
          <a:lstStyle/>
          <a:p>
            <a:pPr indent="0" marL="0">
              <a:buNone/>
            </a:pPr>
            <a:r>
              <a:rPr lang="en-US" sz="1400" dirty="0">
                <a:solidFill>
                  <a:srgbClr val="CADCFC"/>
                </a:solidFill>
                <a:latin typeface="Calibri" pitchFamily="34" charset="0"/>
                <a:ea typeface="Calibri" pitchFamily="34" charset="-122"/>
                <a:cs typeface="Calibri" pitchFamily="34" charset="-120"/>
              </a:rPr>
              <a:t>3 topics explained</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1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AI Safety, Security &amp; Responsible AI</a:t>
            </a:r>
            <a:endParaRPr lang="en-US" sz="2700" dirty="0"/>
          </a:p>
        </p:txBody>
      </p:sp>
      <p:sp>
        <p:nvSpPr>
          <p:cNvPr id="5" name="Shape 3"/>
          <p:cNvSpPr/>
          <p:nvPr/>
        </p:nvSpPr>
        <p:spPr>
          <a:xfrm>
            <a:off x="548640" y="1417320"/>
            <a:ext cx="11091672" cy="4709160"/>
          </a:xfrm>
          <a:prstGeom prst="roundRect">
            <a:avLst>
              <a:gd name="adj" fmla="val 1942"/>
            </a:avLst>
          </a:prstGeom>
          <a:solidFill>
            <a:srgbClr val="F5F6F8"/>
          </a:solidFill>
          <a:ln/>
          <a:effectLst>
            <a:outerShdw sx="100000" sy="100000" kx="0" ky="0" algn="bl" rotWithShape="0" blurRad="101600" dist="38100" dir="5400000">
              <a:srgbClr val="999999">
                <a:alpha val="22000"/>
              </a:srgbClr>
            </a:outerShdw>
          </a:effectLst>
        </p:spPr>
      </p:sp>
      <p:sp>
        <p:nvSpPr>
          <p:cNvPr id="6" name="Text 4"/>
          <p:cNvSpPr txBox="1"/>
          <p:nvPr/>
        </p:nvSpPr>
        <p:spPr>
          <a:xfrm>
            <a:off x="914400" y="1600200"/>
            <a:ext cx="10360152" cy="365760"/>
          </a:xfrm>
          <a:prstGeom prst="rect">
            <a:avLst/>
          </a:prstGeom>
          <a:noFill/>
          <a:ln/>
        </p:spPr>
        <p:txBody>
          <a:bodyPr wrap="square" lIns="0" tIns="0" rIns="0" bIns="0"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Protecting both the system and the people who use it.</a:t>
            </a:r>
            <a:endParaRPr lang="en-US" sz="1400" dirty="0"/>
          </a:p>
        </p:txBody>
      </p:sp>
      <p:sp>
        <p:nvSpPr>
          <p:cNvPr id="7" name="Shape 5"/>
          <p:cNvSpPr/>
          <p:nvPr/>
        </p:nvSpPr>
        <p:spPr>
          <a:xfrm>
            <a:off x="914400" y="2103120"/>
            <a:ext cx="1377086" cy="1600200"/>
          </a:xfrm>
          <a:prstGeom prst="roundRect">
            <a:avLst>
              <a:gd name="adj" fmla="val 5312"/>
            </a:avLst>
          </a:prstGeom>
          <a:solidFill>
            <a:srgbClr val="FFFFFF"/>
          </a:solidFill>
          <a:ln w="19050">
            <a:solidFill>
              <a:srgbClr val="FF9900"/>
            </a:solidFill>
            <a:prstDash val="solid"/>
          </a:ln>
        </p:spPr>
      </p:sp>
      <p:pic>
        <p:nvPicPr>
          <p:cNvPr id="8" name="Image 0" descr="preencoded.png">    </p:cNvPr>
          <p:cNvPicPr>
            <a:picLocks noChangeAspect="1"/>
          </p:cNvPicPr>
          <p:nvPr/>
        </p:nvPicPr>
        <p:blipFill>
          <a:blip r:embed="rId1"/>
          <a:stretch>
            <a:fillRect/>
          </a:stretch>
        </p:blipFill>
        <p:spPr>
          <a:xfrm>
            <a:off x="1383487" y="2267712"/>
            <a:ext cx="438912" cy="438912"/>
          </a:xfrm>
          <a:prstGeom prst="rect">
            <a:avLst/>
          </a:prstGeom>
        </p:spPr>
      </p:pic>
      <p:sp>
        <p:nvSpPr>
          <p:cNvPr id="9" name="Text 6"/>
          <p:cNvSpPr txBox="1"/>
          <p:nvPr/>
        </p:nvSpPr>
        <p:spPr>
          <a:xfrm>
            <a:off x="960120" y="2761488"/>
            <a:ext cx="1285646" cy="868680"/>
          </a:xfrm>
          <a:prstGeom prst="rect">
            <a:avLst/>
          </a:prstGeom>
          <a:noFill/>
          <a:ln/>
        </p:spPr>
        <p:txBody>
          <a:bodyPr wrap="square" lIns="0" tIns="0" rIns="0" bIns="0"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User Input</a:t>
            </a:r>
            <a:endParaRPr lang="en-US" sz="1100" dirty="0"/>
          </a:p>
        </p:txBody>
      </p:sp>
      <p:sp>
        <p:nvSpPr>
          <p:cNvPr id="10" name="Text 7"/>
          <p:cNvSpPr txBox="1"/>
          <p:nvPr/>
        </p:nvSpPr>
        <p:spPr>
          <a:xfrm>
            <a:off x="2291486" y="2702052"/>
            <a:ext cx="365760"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1" name="Shape 8"/>
          <p:cNvSpPr/>
          <p:nvPr/>
        </p:nvSpPr>
        <p:spPr>
          <a:xfrm>
            <a:off x="3059582" y="2103120"/>
            <a:ext cx="1377086" cy="1600200"/>
          </a:xfrm>
          <a:prstGeom prst="roundRect">
            <a:avLst>
              <a:gd name="adj" fmla="val 5312"/>
            </a:avLst>
          </a:prstGeom>
          <a:solidFill>
            <a:srgbClr val="FFFFFF"/>
          </a:solidFill>
          <a:ln w="19050">
            <a:solidFill>
              <a:srgbClr val="FF9900"/>
            </a:solidFill>
            <a:prstDash val="solid"/>
          </a:ln>
        </p:spPr>
      </p:sp>
      <p:pic>
        <p:nvPicPr>
          <p:cNvPr id="12" name="Image 1" descr="preencoded.png">    </p:cNvPr>
          <p:cNvPicPr>
            <a:picLocks noChangeAspect="1"/>
          </p:cNvPicPr>
          <p:nvPr/>
        </p:nvPicPr>
        <p:blipFill>
          <a:blip r:embed="rId2"/>
          <a:stretch>
            <a:fillRect/>
          </a:stretch>
        </p:blipFill>
        <p:spPr>
          <a:xfrm>
            <a:off x="3528670" y="2267712"/>
            <a:ext cx="438912" cy="438912"/>
          </a:xfrm>
          <a:prstGeom prst="rect">
            <a:avLst/>
          </a:prstGeom>
        </p:spPr>
      </p:pic>
      <p:sp>
        <p:nvSpPr>
          <p:cNvPr id="13" name="Text 9"/>
          <p:cNvSpPr txBox="1"/>
          <p:nvPr/>
        </p:nvSpPr>
        <p:spPr>
          <a:xfrm>
            <a:off x="3105302" y="2761488"/>
            <a:ext cx="1285646" cy="868680"/>
          </a:xfrm>
          <a:prstGeom prst="rect">
            <a:avLst/>
          </a:prstGeom>
          <a:noFill/>
          <a:ln/>
        </p:spPr>
        <p:txBody>
          <a:bodyPr wrap="square" lIns="0" tIns="0" rIns="0" bIns="0"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Guardrail</a:t>
            </a:r>
            <a:endParaRPr lang="en-US" sz="1100" dirty="0"/>
          </a:p>
          <a:p>
            <a:pPr algn="ctr" indent="0" marL="0">
              <a:buNone/>
            </a:pPr>
            <a:r>
              <a:rPr lang="en-US" sz="1100" b="1" dirty="0">
                <a:solidFill>
                  <a:srgbClr val="232F3E"/>
                </a:solidFill>
                <a:latin typeface="Calibri" pitchFamily="34" charset="0"/>
                <a:ea typeface="Calibri" pitchFamily="34" charset="-122"/>
                <a:cs typeface="Calibri" pitchFamily="34" charset="-120"/>
              </a:rPr>
              <a:t>(Input Check)</a:t>
            </a:r>
            <a:endParaRPr lang="en-US" sz="1100" dirty="0"/>
          </a:p>
        </p:txBody>
      </p:sp>
      <p:sp>
        <p:nvSpPr>
          <p:cNvPr id="14" name="Text 10"/>
          <p:cNvSpPr txBox="1"/>
          <p:nvPr/>
        </p:nvSpPr>
        <p:spPr>
          <a:xfrm>
            <a:off x="4436669" y="2702052"/>
            <a:ext cx="365760"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5" name="Shape 11"/>
          <p:cNvSpPr/>
          <p:nvPr/>
        </p:nvSpPr>
        <p:spPr>
          <a:xfrm>
            <a:off x="5204765" y="2103120"/>
            <a:ext cx="1377086" cy="1600200"/>
          </a:xfrm>
          <a:prstGeom prst="roundRect">
            <a:avLst>
              <a:gd name="adj" fmla="val 5312"/>
            </a:avLst>
          </a:prstGeom>
          <a:solidFill>
            <a:srgbClr val="FFFFFF"/>
          </a:solidFill>
          <a:ln w="19050">
            <a:solidFill>
              <a:srgbClr val="FF9900"/>
            </a:solidFill>
            <a:prstDash val="solid"/>
          </a:ln>
        </p:spPr>
      </p:sp>
      <p:pic>
        <p:nvPicPr>
          <p:cNvPr id="16" name="Image 2" descr="preencoded.png">    </p:cNvPr>
          <p:cNvPicPr>
            <a:picLocks noChangeAspect="1"/>
          </p:cNvPicPr>
          <p:nvPr/>
        </p:nvPicPr>
        <p:blipFill>
          <a:blip r:embed="rId3"/>
          <a:stretch>
            <a:fillRect/>
          </a:stretch>
        </p:blipFill>
        <p:spPr>
          <a:xfrm>
            <a:off x="5673852" y="2267712"/>
            <a:ext cx="438912" cy="438912"/>
          </a:xfrm>
          <a:prstGeom prst="rect">
            <a:avLst/>
          </a:prstGeom>
        </p:spPr>
      </p:pic>
      <p:sp>
        <p:nvSpPr>
          <p:cNvPr id="17" name="Text 12"/>
          <p:cNvSpPr txBox="1"/>
          <p:nvPr/>
        </p:nvSpPr>
        <p:spPr>
          <a:xfrm>
            <a:off x="5250485" y="2761488"/>
            <a:ext cx="1285646" cy="868680"/>
          </a:xfrm>
          <a:prstGeom prst="rect">
            <a:avLst/>
          </a:prstGeom>
          <a:noFill/>
          <a:ln/>
        </p:spPr>
        <p:txBody>
          <a:bodyPr wrap="square" lIns="0" tIns="0" rIns="0" bIns="0"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Foundation</a:t>
            </a:r>
            <a:endParaRPr lang="en-US" sz="1100" dirty="0"/>
          </a:p>
          <a:p>
            <a:pPr algn="ctr" indent="0" marL="0">
              <a:buNone/>
            </a:pPr>
            <a:r>
              <a:rPr lang="en-US" sz="1100" b="1" dirty="0">
                <a:solidFill>
                  <a:srgbClr val="232F3E"/>
                </a:solidFill>
                <a:latin typeface="Calibri" pitchFamily="34" charset="0"/>
                <a:ea typeface="Calibri" pitchFamily="34" charset="-122"/>
                <a:cs typeface="Calibri" pitchFamily="34" charset="-120"/>
              </a:rPr>
              <a:t>Model</a:t>
            </a:r>
            <a:endParaRPr lang="en-US" sz="1100" dirty="0"/>
          </a:p>
        </p:txBody>
      </p:sp>
      <p:sp>
        <p:nvSpPr>
          <p:cNvPr id="18" name="Text 13"/>
          <p:cNvSpPr txBox="1"/>
          <p:nvPr/>
        </p:nvSpPr>
        <p:spPr>
          <a:xfrm>
            <a:off x="6581851" y="2702052"/>
            <a:ext cx="365760"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19" name="Shape 14"/>
          <p:cNvSpPr/>
          <p:nvPr/>
        </p:nvSpPr>
        <p:spPr>
          <a:xfrm>
            <a:off x="7349947" y="2103120"/>
            <a:ext cx="1377086" cy="1600200"/>
          </a:xfrm>
          <a:prstGeom prst="roundRect">
            <a:avLst>
              <a:gd name="adj" fmla="val 5312"/>
            </a:avLst>
          </a:prstGeom>
          <a:solidFill>
            <a:srgbClr val="FFFFFF"/>
          </a:solidFill>
          <a:ln w="19050">
            <a:solidFill>
              <a:srgbClr val="FF9900"/>
            </a:solidFill>
            <a:prstDash val="solid"/>
          </a:ln>
        </p:spPr>
      </p:sp>
      <p:pic>
        <p:nvPicPr>
          <p:cNvPr id="20" name="Image 3" descr="preencoded.png">    </p:cNvPr>
          <p:cNvPicPr>
            <a:picLocks noChangeAspect="1"/>
          </p:cNvPicPr>
          <p:nvPr/>
        </p:nvPicPr>
        <p:blipFill>
          <a:blip r:embed="rId4"/>
          <a:stretch>
            <a:fillRect/>
          </a:stretch>
        </p:blipFill>
        <p:spPr>
          <a:xfrm>
            <a:off x="7819034" y="2267712"/>
            <a:ext cx="438912" cy="438912"/>
          </a:xfrm>
          <a:prstGeom prst="rect">
            <a:avLst/>
          </a:prstGeom>
        </p:spPr>
      </p:pic>
      <p:sp>
        <p:nvSpPr>
          <p:cNvPr id="21" name="Text 15"/>
          <p:cNvSpPr txBox="1"/>
          <p:nvPr/>
        </p:nvSpPr>
        <p:spPr>
          <a:xfrm>
            <a:off x="7395667" y="2761488"/>
            <a:ext cx="1285646" cy="868680"/>
          </a:xfrm>
          <a:prstGeom prst="rect">
            <a:avLst/>
          </a:prstGeom>
          <a:noFill/>
          <a:ln/>
        </p:spPr>
        <p:txBody>
          <a:bodyPr wrap="square" lIns="0" tIns="0" rIns="0" bIns="0"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Guardrail</a:t>
            </a:r>
            <a:endParaRPr lang="en-US" sz="1100" dirty="0"/>
          </a:p>
          <a:p>
            <a:pPr algn="ctr" indent="0" marL="0">
              <a:buNone/>
            </a:pPr>
            <a:r>
              <a:rPr lang="en-US" sz="1100" b="1" dirty="0">
                <a:solidFill>
                  <a:srgbClr val="232F3E"/>
                </a:solidFill>
                <a:latin typeface="Calibri" pitchFamily="34" charset="0"/>
                <a:ea typeface="Calibri" pitchFamily="34" charset="-122"/>
                <a:cs typeface="Calibri" pitchFamily="34" charset="-120"/>
              </a:rPr>
              <a:t>(Output Check)</a:t>
            </a:r>
            <a:endParaRPr lang="en-US" sz="1100" dirty="0"/>
          </a:p>
        </p:txBody>
      </p:sp>
      <p:sp>
        <p:nvSpPr>
          <p:cNvPr id="22" name="Text 16"/>
          <p:cNvSpPr txBox="1"/>
          <p:nvPr/>
        </p:nvSpPr>
        <p:spPr>
          <a:xfrm>
            <a:off x="8727034" y="2702052"/>
            <a:ext cx="365760" cy="402336"/>
          </a:xfrm>
          <a:prstGeom prst="rect">
            <a:avLst/>
          </a:prstGeom>
          <a:noFill/>
          <a:ln/>
        </p:spPr>
        <p:txBody>
          <a:bodyPr wrap="square" lIns="0" tIns="0" rIns="0" bIns="0" rtlCol="0" anchor="ctr"/>
          <a:lstStyle/>
          <a:p>
            <a:pPr algn="ctr" indent="0" marL="0">
              <a:buNone/>
            </a:pPr>
            <a:r>
              <a:rPr lang="en-US" sz="2000" b="1" dirty="0">
                <a:solidFill>
                  <a:srgbClr val="FF9900"/>
                </a:solidFill>
                <a:latin typeface="Calibri" pitchFamily="34" charset="0"/>
                <a:ea typeface="Calibri" pitchFamily="34" charset="-122"/>
                <a:cs typeface="Calibri" pitchFamily="34" charset="-120"/>
              </a:rPr>
              <a:t>→</a:t>
            </a:r>
            <a:endParaRPr lang="en-US" sz="2000" dirty="0"/>
          </a:p>
        </p:txBody>
      </p:sp>
      <p:sp>
        <p:nvSpPr>
          <p:cNvPr id="23" name="Shape 17"/>
          <p:cNvSpPr/>
          <p:nvPr/>
        </p:nvSpPr>
        <p:spPr>
          <a:xfrm>
            <a:off x="9495130" y="2103120"/>
            <a:ext cx="1377086" cy="1600200"/>
          </a:xfrm>
          <a:prstGeom prst="roundRect">
            <a:avLst>
              <a:gd name="adj" fmla="val 5312"/>
            </a:avLst>
          </a:prstGeom>
          <a:solidFill>
            <a:srgbClr val="FFFFFF"/>
          </a:solidFill>
          <a:ln w="19050">
            <a:solidFill>
              <a:srgbClr val="FF9900"/>
            </a:solidFill>
            <a:prstDash val="solid"/>
          </a:ln>
        </p:spPr>
      </p:sp>
      <p:pic>
        <p:nvPicPr>
          <p:cNvPr id="24" name="Image 4" descr="preencoded.png">    </p:cNvPr>
          <p:cNvPicPr>
            <a:picLocks noChangeAspect="1"/>
          </p:cNvPicPr>
          <p:nvPr/>
        </p:nvPicPr>
        <p:blipFill>
          <a:blip r:embed="rId5"/>
          <a:stretch>
            <a:fillRect/>
          </a:stretch>
        </p:blipFill>
        <p:spPr>
          <a:xfrm>
            <a:off x="9964217" y="2267712"/>
            <a:ext cx="438912" cy="438912"/>
          </a:xfrm>
          <a:prstGeom prst="rect">
            <a:avLst/>
          </a:prstGeom>
        </p:spPr>
      </p:pic>
      <p:sp>
        <p:nvSpPr>
          <p:cNvPr id="25" name="Text 18"/>
          <p:cNvSpPr txBox="1"/>
          <p:nvPr/>
        </p:nvSpPr>
        <p:spPr>
          <a:xfrm>
            <a:off x="9540850" y="2761488"/>
            <a:ext cx="1285646" cy="868680"/>
          </a:xfrm>
          <a:prstGeom prst="rect">
            <a:avLst/>
          </a:prstGeom>
          <a:noFill/>
          <a:ln/>
        </p:spPr>
        <p:txBody>
          <a:bodyPr wrap="square" lIns="0" tIns="0" rIns="0" bIns="0" rtlCol="0" anchor="t"/>
          <a:lstStyle/>
          <a:p>
            <a:pPr algn="ctr" indent="0" marL="0">
              <a:buNone/>
            </a:pPr>
            <a:r>
              <a:rPr lang="en-US" sz="1100" b="1" dirty="0">
                <a:solidFill>
                  <a:srgbClr val="232F3E"/>
                </a:solidFill>
                <a:latin typeface="Calibri" pitchFamily="34" charset="0"/>
                <a:ea typeface="Calibri" pitchFamily="34" charset="-122"/>
                <a:cs typeface="Calibri" pitchFamily="34" charset="-120"/>
              </a:rPr>
              <a:t>Safe Response</a:t>
            </a:r>
            <a:endParaRPr lang="en-US" sz="1100" dirty="0"/>
          </a:p>
        </p:txBody>
      </p:sp>
      <p:sp>
        <p:nvSpPr>
          <p:cNvPr id="26" name="Text 19"/>
          <p:cNvSpPr txBox="1"/>
          <p:nvPr/>
        </p:nvSpPr>
        <p:spPr>
          <a:xfrm>
            <a:off x="914400" y="4023360"/>
            <a:ext cx="10360152" cy="2011680"/>
          </a:xfrm>
          <a:prstGeom prst="rect">
            <a:avLst/>
          </a:prstGeom>
          <a:noFill/>
          <a:ln/>
        </p:spPr>
        <p:txBody>
          <a:bodyPr wrap="square" lIns="0" tIns="0" rIns="0" bIns="0" rtlCol="0" anchor="t"/>
          <a:lstStyle/>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Data privacy controls use Amazon Comprehend and Macie to detect and mask personally identifiable information.</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Governance mechanisms track data lineage and log decisions with CloudTrail for regulatory and audit readiness.</a:t>
            </a:r>
            <a:endParaRPr lang="en-US" sz="1300" dirty="0"/>
          </a:p>
          <a:p>
            <a:pPr marL="203200" indent="-203200">
              <a:spcAft>
                <a:spcPts val="800"/>
              </a:spcAft>
              <a:buSzPct val="100000"/>
              <a:buChar char="▪"/>
            </a:pPr>
            <a:r>
              <a:rPr lang="en-US" sz="1300" dirty="0">
                <a:solidFill>
                  <a:srgbClr val="2B2B2B"/>
                </a:solidFill>
                <a:latin typeface="Calibri" pitchFamily="34" charset="0"/>
                <a:ea typeface="Calibri" pitchFamily="34" charset="-122"/>
                <a:cs typeface="Calibri" pitchFamily="34" charset="-120"/>
              </a:rPr>
              <a:t>Responsible AI covers transparency, fairness evaluation, and clear documentation of a model’s limitations.</a:t>
            </a:r>
            <a:endParaRPr lang="en-US" sz="1300" dirty="0"/>
          </a:p>
        </p:txBody>
      </p:sp>
      <p:sp>
        <p:nvSpPr>
          <p:cNvPr id="27" name="Shape 20"/>
          <p:cNvSpPr/>
          <p:nvPr/>
        </p:nvSpPr>
        <p:spPr>
          <a:xfrm>
            <a:off x="548640" y="6263640"/>
            <a:ext cx="11091672" cy="566928"/>
          </a:xfrm>
          <a:prstGeom prst="roundRect">
            <a:avLst>
              <a:gd name="adj" fmla="val 12903"/>
            </a:avLst>
          </a:prstGeom>
          <a:solidFill>
            <a:srgbClr val="FFF3E0"/>
          </a:solidFill>
          <a:ln/>
        </p:spPr>
      </p:sp>
      <p:sp>
        <p:nvSpPr>
          <p:cNvPr id="28" name="Text 21"/>
          <p:cNvSpPr txBox="1"/>
          <p:nvPr/>
        </p:nvSpPr>
        <p:spPr>
          <a:xfrm>
            <a:off x="868680" y="6263640"/>
            <a:ext cx="10451592" cy="566928"/>
          </a:xfrm>
          <a:prstGeom prst="rect">
            <a:avLst/>
          </a:prstGeom>
          <a:noFill/>
          <a:ln/>
        </p:spPr>
        <p:txBody>
          <a:bodyPr wrap="square" lIns="0" tIns="0" rIns="0" bIns="0"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Key takeaway:  </a:t>
            </a:r>
            <a:pPr indent="0" marL="0">
              <a:buNone/>
            </a:pPr>
            <a:r>
              <a:rPr lang="en-US" sz="1300" dirty="0">
                <a:solidFill>
                  <a:srgbClr val="2B2B2B"/>
                </a:solidFill>
                <a:latin typeface="Calibri" pitchFamily="34" charset="0"/>
                <a:ea typeface="Calibri" pitchFamily="34" charset="-122"/>
                <a:cs typeface="Calibri" pitchFamily="34" charset="-120"/>
              </a:rPr>
              <a:t>Safety and governance aren't an add-on step - they're built into the request/response flow itself.</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2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Cost, Performance &amp; Monitoring</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sx="100000" sy="100000" kx="0" ky="0" algn="bl" rotWithShape="0" blurRad="101600" dist="38100" dir="5400000">
              <a:srgbClr val="999999">
                <a:alpha val="22000"/>
              </a:srgbClr>
            </a:outerShdw>
          </a:effectLst>
        </p:spPr>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sp>
      <p:pic>
        <p:nvPicPr>
          <p:cNvPr id="7" name="Image 0" descr="preencoded.png">    </p:cNvPr>
          <p:cNvPicPr>
            <a:picLocks noChangeAspect="1"/>
          </p:cNvPicPr>
          <p:nvPr/>
        </p:nvPicPr>
        <p:blipFill>
          <a:blip r:embed="rId1"/>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Keeping a GenAI application fast, affordable, and observable.</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Token usage directly drives cost, so prompt compression, context pruning, and response limits all matter.</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Choosing the right-sized model for each task - not always the most powerful one - balances cost against quality.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Caching strategies like semantic caching avoid paying for repeated, near-identical model calls.</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CloudWatch tracks token usage, latency, and response quality, with anomaly detection for unusual cost or behavior spikes.</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sp>
      <p:sp>
        <p:nvSpPr>
          <p:cNvPr id="11" name="Text 8"/>
          <p:cNvSpPr txBox="1"/>
          <p:nvPr/>
        </p:nvSpPr>
        <p:spPr>
          <a:xfrm>
            <a:off x="960120" y="5852160"/>
            <a:ext cx="10268712" cy="566928"/>
          </a:xfrm>
          <a:prstGeom prst="rect">
            <a:avLst/>
          </a:prstGeom>
          <a:noFill/>
          <a:ln/>
        </p:spPr>
        <p:txBody>
          <a:bodyPr wrap="square" lIns="0" tIns="0" rIns="0" bIns="0"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Key takeaway:  </a:t>
            </a:r>
            <a:pPr indent="0" marL="0">
              <a:buNone/>
            </a:pPr>
            <a:r>
              <a:rPr lang="en-US" sz="1300" dirty="0">
                <a:solidFill>
                  <a:srgbClr val="2B2B2B"/>
                </a:solidFill>
                <a:latin typeface="Calibri" pitchFamily="34" charset="0"/>
                <a:ea typeface="Calibri" pitchFamily="34" charset="-122"/>
                <a:cs typeface="Calibri" pitchFamily="34" charset="-120"/>
              </a:rPr>
              <a:t>The most capable model isn't always the right choice - cost-aware design is a tested skill here.</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1188720"/>
          </a:xfrm>
          <a:prstGeom prst="rect">
            <a:avLst/>
          </a:prstGeom>
          <a:solidFill>
            <a:srgbClr val="232F3E"/>
          </a:solidFill>
          <a:ln/>
        </p:spPr>
      </p:sp>
      <p:sp>
        <p:nvSpPr>
          <p:cNvPr id="3" name="Text 1"/>
          <p:cNvSpPr txBox="1"/>
          <p:nvPr/>
        </p:nvSpPr>
        <p:spPr>
          <a:xfrm>
            <a:off x="548640" y="164592"/>
            <a:ext cx="9144000" cy="292608"/>
          </a:xfrm>
          <a:prstGeom prst="rect">
            <a:avLst/>
          </a:prstGeom>
          <a:noFill/>
          <a:ln/>
        </p:spPr>
        <p:txBody>
          <a:bodyPr wrap="square" lIns="0" tIns="0" rIns="0" bIns="0" rtlCol="0" anchor="ctr"/>
          <a:lstStyle/>
          <a:p>
            <a:pPr indent="0" marL="0">
              <a:buNone/>
            </a:pPr>
            <a:r>
              <a:rPr lang="en-US" sz="1300" b="1" spc="200" kern="0" dirty="0">
                <a:solidFill>
                  <a:srgbClr val="FF9900"/>
                </a:solidFill>
                <a:latin typeface="Calibri" pitchFamily="34" charset="0"/>
                <a:ea typeface="Calibri" pitchFamily="34" charset="-122"/>
                <a:cs typeface="Calibri" pitchFamily="34" charset="-120"/>
              </a:rPr>
              <a:t>TOPIC 3 OF 3</a:t>
            </a:r>
            <a:endParaRPr lang="en-US" sz="1300" dirty="0"/>
          </a:p>
        </p:txBody>
      </p:sp>
      <p:sp>
        <p:nvSpPr>
          <p:cNvPr id="4" name="Text 2"/>
          <p:cNvSpPr txBox="1"/>
          <p:nvPr/>
        </p:nvSpPr>
        <p:spPr>
          <a:xfrm>
            <a:off x="548640" y="438912"/>
            <a:ext cx="11064240" cy="713232"/>
          </a:xfrm>
          <a:prstGeom prst="rect">
            <a:avLst/>
          </a:prstGeom>
          <a:noFill/>
          <a:ln/>
        </p:spPr>
        <p:txBody>
          <a:bodyPr wrap="square" lIns="0" tIns="0" rIns="0" bIns="0"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Evaluation &amp; Troubleshooting</a:t>
            </a:r>
            <a:endParaRPr lang="en-US" sz="2700" dirty="0"/>
          </a:p>
        </p:txBody>
      </p:sp>
      <p:sp>
        <p:nvSpPr>
          <p:cNvPr id="5" name="Shape 3"/>
          <p:cNvSpPr/>
          <p:nvPr/>
        </p:nvSpPr>
        <p:spPr>
          <a:xfrm>
            <a:off x="640080" y="1508760"/>
            <a:ext cx="10908792" cy="4160520"/>
          </a:xfrm>
          <a:prstGeom prst="roundRect">
            <a:avLst>
              <a:gd name="adj" fmla="val 2198"/>
            </a:avLst>
          </a:prstGeom>
          <a:solidFill>
            <a:srgbClr val="F5F6F8"/>
          </a:solidFill>
          <a:ln/>
          <a:effectLst>
            <a:outerShdw sx="100000" sy="100000" kx="0" ky="0" algn="bl" rotWithShape="0" blurRad="101600" dist="38100" dir="5400000">
              <a:srgbClr val="999999">
                <a:alpha val="22000"/>
              </a:srgbClr>
            </a:outerShdw>
          </a:effectLst>
        </p:spPr>
      </p:sp>
      <p:sp>
        <p:nvSpPr>
          <p:cNvPr id="6" name="Shape 4"/>
          <p:cNvSpPr/>
          <p:nvPr/>
        </p:nvSpPr>
        <p:spPr>
          <a:xfrm>
            <a:off x="1005840" y="1828800"/>
            <a:ext cx="777240" cy="777240"/>
          </a:xfrm>
          <a:prstGeom prst="ellipse">
            <a:avLst/>
          </a:prstGeom>
          <a:solidFill>
            <a:srgbClr val="FFFFFF"/>
          </a:solidFill>
          <a:ln w="25400">
            <a:solidFill>
              <a:srgbClr val="FF9900"/>
            </a:solidFill>
            <a:prstDash val="solid"/>
          </a:ln>
        </p:spPr>
      </p:sp>
      <p:pic>
        <p:nvPicPr>
          <p:cNvPr id="7" name="Image 0" descr="preencoded.png">    </p:cNvPr>
          <p:cNvPicPr>
            <a:picLocks noChangeAspect="1"/>
          </p:cNvPicPr>
          <p:nvPr/>
        </p:nvPicPr>
        <p:blipFill>
          <a:blip r:embed="rId1"/>
          <a:stretch>
            <a:fillRect/>
          </a:stretch>
        </p:blipFill>
        <p:spPr>
          <a:xfrm>
            <a:off x="1152144" y="1975104"/>
            <a:ext cx="484632" cy="484632"/>
          </a:xfrm>
          <a:prstGeom prst="rect">
            <a:avLst/>
          </a:prstGeom>
        </p:spPr>
      </p:pic>
      <p:sp>
        <p:nvSpPr>
          <p:cNvPr id="8" name="Text 5"/>
          <p:cNvSpPr txBox="1"/>
          <p:nvPr/>
        </p:nvSpPr>
        <p:spPr>
          <a:xfrm>
            <a:off x="2011680" y="1801368"/>
            <a:ext cx="9171432" cy="868680"/>
          </a:xfrm>
          <a:prstGeom prst="rect">
            <a:avLst/>
          </a:prstGeom>
          <a:noFill/>
          <a:ln/>
        </p:spPr>
        <p:txBody>
          <a:bodyPr wrap="square" lIns="0" tIns="0" rIns="0" bIns="0" rtlCol="0" anchor="t"/>
          <a:lstStyle/>
          <a:p>
            <a:pPr indent="0" marL="0">
              <a:buNone/>
            </a:pPr>
            <a:r>
              <a:rPr lang="en-US" sz="1400" i="1" dirty="0">
                <a:solidFill>
                  <a:srgbClr val="6B7280"/>
                </a:solidFill>
                <a:latin typeface="Calibri" pitchFamily="34" charset="0"/>
                <a:ea typeface="Calibri" pitchFamily="34" charset="-122"/>
                <a:cs typeface="Calibri" pitchFamily="34" charset="-120"/>
              </a:rPr>
              <a:t>How you know a GenAI system is actually working well - and how to fix it when it isn't.</a:t>
            </a:r>
            <a:endParaRPr lang="en-US" sz="1400" dirty="0"/>
          </a:p>
        </p:txBody>
      </p:sp>
      <p:sp>
        <p:nvSpPr>
          <p:cNvPr id="9" name="Text 6"/>
          <p:cNvSpPr txBox="1"/>
          <p:nvPr/>
        </p:nvSpPr>
        <p:spPr>
          <a:xfrm>
            <a:off x="1051560" y="2834640"/>
            <a:ext cx="10085832" cy="2011680"/>
          </a:xfrm>
          <a:prstGeom prst="rect">
            <a:avLst/>
          </a:prstGeom>
          <a:noFill/>
          <a:ln/>
        </p:spPr>
        <p:txBody>
          <a:bodyPr wrap="square" lIns="0" tIns="0" rIns="0" bIns="0" rtlCol="0" anchor="t"/>
          <a:lstStyle/>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Evaluation goes beyond traditional ML metrics to cover relevance, factual accuracy, consistency, and fluency.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LLM-as-a-judge techniques use a foundation model to automatically score another model's responses at scale.</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RAG-specific evaluation checks retrieval relevance separately from generation quality, since either can fail independently.</a:t>
            </a:r>
            <a:endParaRPr lang="en-US" sz="1450" dirty="0"/>
          </a:p>
          <a:p>
            <a:pPr marL="228600" indent="-228600">
              <a:spcAft>
                <a:spcPts val="1200"/>
              </a:spcAft>
              <a:buSzPct val="100000"/>
              <a:buChar char="▪"/>
            </a:pPr>
            <a:r>
              <a:rPr lang="en-US" sz="1450" dirty="0">
                <a:solidFill>
                  <a:srgbClr val="2B2B2B"/>
                </a:solidFill>
                <a:latin typeface="Calibri" pitchFamily="34" charset="0"/>
                <a:ea typeface="Calibri" pitchFamily="34" charset="-122"/>
                <a:cs typeface="Calibri" pitchFamily="34" charset="-120"/>
              </a:rPr>
              <a:t>Common troubleshooting areas include context window overflow, prompt confusion, and embedding or retrieval drift.</a:t>
            </a:r>
            <a:endParaRPr lang="en-US" sz="1450" dirty="0"/>
          </a:p>
        </p:txBody>
      </p:sp>
      <p:sp>
        <p:nvSpPr>
          <p:cNvPr id="10" name="Shape 7"/>
          <p:cNvSpPr/>
          <p:nvPr/>
        </p:nvSpPr>
        <p:spPr>
          <a:xfrm>
            <a:off x="640080" y="5852160"/>
            <a:ext cx="10908792" cy="566928"/>
          </a:xfrm>
          <a:prstGeom prst="roundRect">
            <a:avLst>
              <a:gd name="adj" fmla="val 12903"/>
            </a:avLst>
          </a:prstGeom>
          <a:solidFill>
            <a:srgbClr val="FFF3E0"/>
          </a:solidFill>
          <a:ln/>
        </p:spPr>
      </p:sp>
      <p:sp>
        <p:nvSpPr>
          <p:cNvPr id="11" name="Text 8"/>
          <p:cNvSpPr txBox="1"/>
          <p:nvPr/>
        </p:nvSpPr>
        <p:spPr>
          <a:xfrm>
            <a:off x="960120" y="5852160"/>
            <a:ext cx="10268712" cy="566928"/>
          </a:xfrm>
          <a:prstGeom prst="rect">
            <a:avLst/>
          </a:prstGeom>
          <a:noFill/>
          <a:ln/>
        </p:spPr>
        <p:txBody>
          <a:bodyPr wrap="square" lIns="0" tIns="0" rIns="0" bIns="0" rtlCol="0" anchor="ctr"/>
          <a:lstStyle/>
          <a:p>
            <a:pPr indent="0" marL="0">
              <a:buNone/>
            </a:pPr>
            <a:r>
              <a:rPr lang="en-US" sz="1300" b="1" dirty="0">
                <a:solidFill>
                  <a:srgbClr val="232F3E"/>
                </a:solidFill>
                <a:latin typeface="Calibri" pitchFamily="34" charset="0"/>
                <a:ea typeface="Calibri" pitchFamily="34" charset="-122"/>
                <a:cs typeface="Calibri" pitchFamily="34" charset="-120"/>
              </a:rPr>
              <a:t>Key takeaway:  </a:t>
            </a:r>
            <a:pPr indent="0" marL="0">
              <a:buNone/>
            </a:pPr>
            <a:r>
              <a:rPr lang="en-US" sz="1300" dirty="0">
                <a:solidFill>
                  <a:srgbClr val="2B2B2B"/>
                </a:solidFill>
                <a:latin typeface="Calibri" pitchFamily="34" charset="0"/>
                <a:ea typeface="Calibri" pitchFamily="34" charset="-122"/>
                <a:cs typeface="Calibri" pitchFamily="34" charset="-120"/>
              </a:rPr>
              <a:t>When something goes wrong, the fix is usually in retrieval, the prompt, or the data - rarely the model itself.</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2026-09-02T23:45:10Z</dcterms:created>
  <dcterms:modified xsi:type="dcterms:W3CDTF">2026-09-02T23:45:10Z</dcterms:modified>
</cp:coreProperties>
</file>