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7410" autoAdjust="0"/>
  </p:normalViewPr>
  <p:slideViewPr>
    <p:cSldViewPr snapToGrid="0" snapToObjects="1">
      <p:cViewPr varScale="1">
        <p:scale>
          <a:sx n="42" d="100"/>
          <a:sy n="42" d="100"/>
        </p:scale>
        <p:origin x="15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2932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E3F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2E3F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1005840"/>
            <a:ext cx="1188720" cy="118872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1261872"/>
            <a:ext cx="676656" cy="6766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46888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Certified Generative AI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 – Professional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41248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AIP-C01  ·  The 5 Exam Domains, Explained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exam scope, one domain at a time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746"/>
    </mc:Choice>
    <mc:Fallback xmlns="">
      <p:transition spd="slow" advTm="5374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1 OF 5  ·  31% OF THE EXAM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1: Foundation Model Integration, Data &amp; Compliance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08792" cy="4160520"/>
          </a:xfrm>
          <a:prstGeom prst="roundRect">
            <a:avLst>
              <a:gd name="adj" fmla="val 2198"/>
            </a:avLst>
          </a:prstGeom>
          <a:solidFill>
            <a:srgbClr val="F5F6F8"/>
          </a:solidFill>
          <a:ln/>
          <a:effectLst>
            <a:outerShdw blurRad="101600" dist="38100" dir="5400000" algn="bl" rotWithShape="0">
              <a:srgbClr val="999999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05840" y="1828800"/>
            <a:ext cx="777240" cy="7772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1975104"/>
            <a:ext cx="484632" cy="4846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011680" y="1801368"/>
            <a:ext cx="9171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domain — choosing, configuring, and feeding data to foundation models.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2834640"/>
            <a:ext cx="100858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and configuring foundation models in Amazon Bedrock for a given use case.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and formatting data pipelines so models receive clean, well-structured input.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stores, RAG, and retrieval design — grounding a model in your own data.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and prompt governance for consistent, controlled outputs.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40080" y="5852160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960120" y="5852160"/>
            <a:ext cx="10268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covered:  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in Week 1 and Week 2 of this series.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6419"/>
    </mc:Choice>
    <mc:Fallback xmlns="">
      <p:transition spd="slow" advTm="13641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2 OF 5  ·  26% OF THE EXAM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2: Implementation &amp; Integration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08792" cy="4160520"/>
          </a:xfrm>
          <a:prstGeom prst="roundRect">
            <a:avLst>
              <a:gd name="adj" fmla="val 2198"/>
            </a:avLst>
          </a:prstGeom>
          <a:solidFill>
            <a:srgbClr val="F5F6F8"/>
          </a:solidFill>
          <a:ln/>
          <a:effectLst>
            <a:outerShdw blurRad="101600" dist="38100" dir="5400000" algn="bl" rotWithShape="0">
              <a:srgbClr val="999999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05840" y="1828800"/>
            <a:ext cx="777240" cy="7772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1975104"/>
            <a:ext cx="484632" cy="4846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011680" y="1801368"/>
            <a:ext cx="9171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working model into a real application, connected to real systems.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2834640"/>
            <a:ext cx="100858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agentic AI solutions — agents that plan, act, and call tools.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deployment strategy: Lambda, provisioned throughput, or SageMaker AI endpoints.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integration — APIs, event-driven architectures, and secure connectivity.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 API integration patterns, including streaming responses and intelligent routing.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40080" y="5852160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960120" y="5852160"/>
            <a:ext cx="10268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covered:  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in Week 2 of this series.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6962"/>
    </mc:Choice>
    <mc:Fallback xmlns="">
      <p:transition spd="slow" advTm="106962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3 OF 5  ·  20% OF THE EXAM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3: AI Safety, Security &amp; Governance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08792" cy="4160520"/>
          </a:xfrm>
          <a:prstGeom prst="roundRect">
            <a:avLst>
              <a:gd name="adj" fmla="val 2198"/>
            </a:avLst>
          </a:prstGeom>
          <a:solidFill>
            <a:srgbClr val="F5F6F8"/>
          </a:solidFill>
          <a:ln/>
          <a:effectLst>
            <a:outerShdw blurRad="101600" dist="38100" dir="5400000" algn="bl" rotWithShape="0">
              <a:srgbClr val="999999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05840" y="1828800"/>
            <a:ext cx="777240" cy="7772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1975104"/>
            <a:ext cx="484632" cy="4846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011680" y="1801368"/>
            <a:ext cx="9171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the system, the data, and the people who use it.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2834640"/>
            <a:ext cx="100858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and output safety controls using Amazon Bedrock Guardrails.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 and privacy — PII detection with Comprehend and Macie.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mechanisms: data lineage tracking, audit logging, model cards.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principles — transparency, fairness evaluation, and documented limitations.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40080" y="5852160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960120" y="5852160"/>
            <a:ext cx="10268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covered:  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in Week 3 of this series.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675"/>
    </mc:Choice>
    <mc:Fallback xmlns="">
      <p:transition spd="slow" advTm="121675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4 OF 5  ·  12% OF THE EXAM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4: Operational Efficiency &amp; Optimization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08792" cy="4160520"/>
          </a:xfrm>
          <a:prstGeom prst="roundRect">
            <a:avLst>
              <a:gd name="adj" fmla="val 2198"/>
            </a:avLst>
          </a:prstGeom>
          <a:solidFill>
            <a:srgbClr val="F5F6F8"/>
          </a:solidFill>
          <a:ln/>
          <a:effectLst>
            <a:outerShdw blurRad="101600" dist="38100" dir="5400000" algn="bl" rotWithShape="0">
              <a:srgbClr val="999999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05840" y="1828800"/>
            <a:ext cx="777240" cy="7772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1975104"/>
            <a:ext cx="484632" cy="4846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011680" y="1801368"/>
            <a:ext cx="9171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a GenAI application fast, affordable, and well-monitored.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2834640"/>
            <a:ext cx="100858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optimization — token efficiency, prompt compression, and right-sized model selection.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tuning for latency-cost tradeoffs and throughput.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with CloudWatch — token usage, latency, and anomaly detection.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40080" y="5852160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960120" y="5852160"/>
            <a:ext cx="10268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covered:  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in Week 3 of this series.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2606"/>
    </mc:Choice>
    <mc:Fallback xmlns="">
      <p:transition spd="slow" advTm="122606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5 OF 5  ·  11% OF THE EXAM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5: Testing, Validation &amp; Troubleshooting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08792" cy="4160520"/>
          </a:xfrm>
          <a:prstGeom prst="roundRect">
            <a:avLst>
              <a:gd name="adj" fmla="val 2198"/>
            </a:avLst>
          </a:prstGeom>
          <a:solidFill>
            <a:srgbClr val="F5F6F8"/>
          </a:solidFill>
          <a:ln/>
          <a:effectLst>
            <a:outerShdw blurRad="101600" dist="38100" dir="5400000" algn="bl" rotWithShape="0">
              <a:srgbClr val="999999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05840" y="1828800"/>
            <a:ext cx="777240" cy="7772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1975104"/>
            <a:ext cx="484632" cy="4846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011680" y="1801368"/>
            <a:ext cx="9171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know a GenAI system works, and how you fix it when it doesn't.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2834640"/>
            <a:ext cx="100858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techniques beyond traditional ML metrics — relevance, accuracy, consistency.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LLM-as-a-judge and RAG-specific evaluation methods.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common failure points: context overflow, prompt confusion, retrieval drift.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40080" y="5852160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960120" y="5852160"/>
            <a:ext cx="10268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covered:  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in Week 3 of this series.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9778"/>
    </mc:Choice>
    <mc:Fallback xmlns="">
      <p:transition spd="slow" advTm="159778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475</Words>
  <Application>Microsoft Office PowerPoint</Application>
  <PresentationFormat>Custom</PresentationFormat>
  <Paragraphs>48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Mishree Patel</cp:lastModifiedBy>
  <cp:revision>4</cp:revision>
  <dcterms:created xsi:type="dcterms:W3CDTF">2026-09-20T17:18:13Z</dcterms:created>
  <dcterms:modified xsi:type="dcterms:W3CDTF">2026-09-20T23:39:54Z</dcterms:modified>
</cp:coreProperties>
</file>