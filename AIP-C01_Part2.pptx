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624" autoAdjust="0"/>
  </p:normalViewPr>
  <p:slideViewPr>
    <p:cSldViewPr snapToGrid="0" snapToObjects="1">
      <p:cViewPr varScale="1">
        <p:scale>
          <a:sx n="48" d="100"/>
          <a:sy n="48" d="100"/>
        </p:scale>
        <p:origin x="1300"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2819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2 of 3, continuing the series. Briefly recap Part 1: we covered what the AIP-C01 exam tests, its format, the five content domains, and Amazon Bedrock fundamentals - model access, configuration, and invocation. Today we move into retrieval, agents, and deployment.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this next one is one of the most heavily tested areas on the whole exam, so let's slow down here. The core idea is retrieval augmented generation, or RAG - and it solves a very specific problem: foundation models only know what they were trained on, they don't know about your internal documents, your product catalog, or last week's support tickets. RAG fixes that without retraining the model at all.
Here's the flow, and I'll walk you through the diagram on screen: you start with a document, you break it into chunks - smaller pieces the model can actually work with - then you convert each chunk into an embedding, which is just a numeric representation of its meaning. Those embeddings get stored in a vector database - think OpenSearch Service, Bedrock Knowledge Bases, or Aurora with the pgvector extension. When a user asks a question, that question also gets embedded, the vector store finds the most semantically similar chunks, and those get injected into the prompt before it ever reaches the model. The model then generates an answer grounded in your real data.
On the exam, expect questions about chunking strategy, embedding model choice, and how Prompt Management and Prompt Flows add versioning and governance on top of all this.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shift from a model that just answers questions to a model that can actually do things - this is agentic AI. Up to this point in the series, we've mostly talked about the model as something that reads a prompt and generates text back. An agent is different: it can break a task into steps, decide it needs more information or needs to perform an action, and call a tool or an API to make that happen.
On AWS, Amazon Bedrock AgentCore gives you a managed way to build these agents, handling memory and state so the agent can keep track of what it's already done across multiple steps. Frameworks like Strands Agents help with orchestration, especially when you have multiple agents working together. And the Model Context Protocol, or MCP, standardizes how an agent discovers and calls tools, so you're not reinventing that integration every time.
But capability alone isn't enough - safety matters just as much here. That's why the exam also covers safeguards: timeouts so an agent doesn't run forever, stopping conditions so it knows when a task is complete, and circuit breakers that shut things down if something goes wrong. Think of an agent less like a chatbot, and more like a junior engineer you've given limited, well-defined permissions 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Okay, last topic for this video: you've got a foundation model working, maybe you've even wired up RAG or an agent - now how do you actually get that into production, in front of real users, connected to the rest of your systems? That's what this section is about.</a:t>
            </a:r>
          </a:p>
          <a:p>
            <a:pPr rtl="0"/>
            <a:r>
              <a:rPr lang="en-US" dirty="0"/>
              <a:t>Let's start with deployment itself. You've got a few options depending on your traffic pattern. For on-demand, unpredictable traffic, invoking Bedrock through a Lambda function works well - you only pay when it's called. If you need consistent, predictable latency at higher volume, Bedrock provisioned throughput reserves capacity for you. And if you're deploying a custom fine-tuned model rather than calling Bedrock directly, that's where SageMaker AI endpoints come in. The exam wants you to match the deployment pattern to the traffic and latency requirements in the scenario, not just pick the most powerful option.</a:t>
            </a:r>
          </a:p>
          <a:p>
            <a:pPr rtl="0"/>
            <a:r>
              <a:rPr lang="en-US" dirty="0"/>
              <a:t>Next is enterprise integration - because a GenAI feature rarely lives in isolation, it has to plug into systems that already exist. API Gateway lets you expose GenAI functionality as a controlled API. Event-driven architectures, using something like </a:t>
            </a:r>
            <a:r>
              <a:rPr lang="en-US" dirty="0" err="1"/>
              <a:t>EventBridge</a:t>
            </a:r>
            <a:r>
              <a:rPr lang="en-US" dirty="0"/>
              <a:t>, let other systems react asynchronously when a GenAI process finishes. And webhook handlers let external systems push data in. This is about loose coupling - your GenAI component shouldn't need to know the internals of every system it talks to.</a:t>
            </a:r>
          </a:p>
          <a:p>
            <a:pPr rtl="0"/>
            <a:r>
              <a:rPr lang="en-US" dirty="0"/>
              <a:t>Security matters just as much here as anywhere else. Identity federation and role-based access control make sure that only the right services and users can invoke your models or reach your data - least privilege access, not broad open access. And finally, CI/CD: pipelines built with tools like </a:t>
            </a:r>
            <a:r>
              <a:rPr lang="en-US" dirty="0" err="1"/>
              <a:t>CodePipeline</a:t>
            </a:r>
            <a:r>
              <a:rPr lang="en-US" dirty="0"/>
              <a:t> and </a:t>
            </a:r>
            <a:r>
              <a:rPr lang="en-US" dirty="0" err="1"/>
              <a:t>CodeBuild</a:t>
            </a:r>
            <a:r>
              <a:rPr lang="en-US" dirty="0"/>
              <a:t>, with automated security scans and rollback support, let your team update prompts, models, or agent logic safely and repeatedly, instead of manually pushing changes and hoping nothing breaks.</a:t>
            </a:r>
          </a:p>
          <a:p>
            <a:pPr rtl="0"/>
            <a:r>
              <a:rPr lang="en-US" dirty="0"/>
              <a:t>The big idea to remember: a GenAI feature isn't "done" when it responds correctly once in a demo - it's done when it's deployed, connected to your real systems, secured, and safe to keep updating over time. That wraps up this video - next time, we'll close out the series with safety and security, cost optimization, and evaluation.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56404-00B8-9C55-1F92-2E0725D57A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7D291-4C4D-5639-8C6B-A4C3D7BC05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7BFA5C-5632-22C0-518D-64BCD1BAEA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BF04B9-1792-B7B5-2491-4E6295438D45}"/>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542713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2E3F52"/>
          </a:solidFill>
          <a:ln/>
        </p:spPr>
        <p:txBody>
          <a:bodyPr/>
          <a:lstStyle/>
          <a:p>
            <a:endParaRPr lang="en-US"/>
          </a:p>
        </p:txBody>
      </p:sp>
      <p:sp>
        <p:nvSpPr>
          <p:cNvPr id="3" name="Shape 1"/>
          <p:cNvSpPr/>
          <p:nvPr/>
        </p:nvSpPr>
        <p:spPr>
          <a:xfrm>
            <a:off x="-1645920" y="4754880"/>
            <a:ext cx="3840480" cy="3840480"/>
          </a:xfrm>
          <a:prstGeom prst="ellipse">
            <a:avLst/>
          </a:prstGeom>
          <a:solidFill>
            <a:srgbClr val="2E3F52"/>
          </a:solidFill>
          <a:ln/>
        </p:spPr>
        <p:txBody>
          <a:bodyPr/>
          <a:lstStyle/>
          <a:p>
            <a:endParaRPr lang="en-US"/>
          </a:p>
        </p:txBody>
      </p:sp>
      <p:sp>
        <p:nvSpPr>
          <p:cNvPr id="4" name="Shape 2"/>
          <p:cNvSpPr/>
          <p:nvPr/>
        </p:nvSpPr>
        <p:spPr>
          <a:xfrm>
            <a:off x="822960" y="1005840"/>
            <a:ext cx="1188720" cy="1188720"/>
          </a:xfrm>
          <a:prstGeom prst="ellipse">
            <a:avLst/>
          </a:prstGeom>
          <a:solidFill>
            <a:srgbClr val="FF990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78992" y="1261872"/>
            <a:ext cx="676656" cy="676656"/>
          </a:xfrm>
          <a:prstGeom prst="rect">
            <a:avLst/>
          </a:prstGeom>
        </p:spPr>
      </p:pic>
      <p:sp>
        <p:nvSpPr>
          <p:cNvPr id="6" name="Text 3"/>
          <p:cNvSpPr txBox="1"/>
          <p:nvPr/>
        </p:nvSpPr>
        <p:spPr>
          <a:xfrm>
            <a:off x="822960" y="2468880"/>
            <a:ext cx="9875520" cy="173736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AWS Certified Generative AI</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Developer – Professional</a:t>
            </a:r>
            <a:endParaRPr lang="en-US" sz="4000" dirty="0"/>
          </a:p>
        </p:txBody>
      </p:sp>
    </p:spTree>
  </p:cSld>
  <p:clrMapOvr>
    <a:masterClrMapping/>
  </p:clrMapOvr>
  <mc:AlternateContent xmlns:mc="http://schemas.openxmlformats.org/markup-compatibility/2006" xmlns:p14="http://schemas.microsoft.com/office/powerpoint/2010/main">
    <mc:Choice Requires="p14">
      <p:transition spd="slow" p14:dur="2000" advTm="17019"/>
    </mc:Choice>
    <mc:Fallback xmlns="">
      <p:transition spd="slow" advTm="1701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32F3E"/>
          </a:solidFill>
          <a:ln/>
        </p:spPr>
        <p:txBody>
          <a:bodyPr/>
          <a:lstStyle/>
          <a:p>
            <a:endParaRPr lang="en-US"/>
          </a:p>
        </p:txBody>
      </p:sp>
      <p:sp>
        <p:nvSpPr>
          <p:cNvPr id="3" name="Text 1"/>
          <p:cNvSpPr txBox="1"/>
          <p:nvPr/>
        </p:nvSpPr>
        <p:spPr>
          <a:xfrm>
            <a:off x="548640" y="164592"/>
            <a:ext cx="9144000" cy="292608"/>
          </a:xfrm>
          <a:prstGeom prst="rect">
            <a:avLst/>
          </a:prstGeom>
          <a:noFill/>
          <a:ln/>
        </p:spPr>
        <p:txBody>
          <a:bodyPr wrap="square" lIns="0" tIns="0" rIns="0" bIns="0" rtlCol="0" anchor="ctr"/>
          <a:lstStyle/>
          <a:p>
            <a:pPr marL="0" indent="0">
              <a:buNone/>
            </a:pPr>
            <a:r>
              <a:rPr lang="en-US" sz="1300" b="1" kern="0" spc="200" dirty="0">
                <a:solidFill>
                  <a:srgbClr val="FF9900"/>
                </a:solidFill>
                <a:latin typeface="Calibri" pitchFamily="34" charset="0"/>
                <a:ea typeface="Calibri" pitchFamily="34" charset="-122"/>
                <a:cs typeface="Calibri" pitchFamily="34" charset="-120"/>
              </a:rPr>
              <a:t>TOPIC 1 OF 3</a:t>
            </a:r>
            <a:endParaRPr lang="en-US" sz="1300" dirty="0"/>
          </a:p>
        </p:txBody>
      </p:sp>
      <p:sp>
        <p:nvSpPr>
          <p:cNvPr id="4" name="Text 2"/>
          <p:cNvSpPr txBox="1"/>
          <p:nvPr/>
        </p:nvSpPr>
        <p:spPr>
          <a:xfrm>
            <a:off x="548640" y="438912"/>
            <a:ext cx="11064240" cy="713232"/>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Vector Stores, RAG &amp; Prompt Governance</a:t>
            </a:r>
            <a:endParaRPr lang="en-US" sz="2700" dirty="0"/>
          </a:p>
        </p:txBody>
      </p:sp>
      <p:sp>
        <p:nvSpPr>
          <p:cNvPr id="5" name="Shape 3"/>
          <p:cNvSpPr/>
          <p:nvPr/>
        </p:nvSpPr>
        <p:spPr>
          <a:xfrm>
            <a:off x="548640" y="1417320"/>
            <a:ext cx="11091672" cy="4709160"/>
          </a:xfrm>
          <a:prstGeom prst="roundRect">
            <a:avLst>
              <a:gd name="adj" fmla="val 1942"/>
            </a:avLst>
          </a:prstGeom>
          <a:solidFill>
            <a:srgbClr val="F5F6F8"/>
          </a:solidFill>
          <a:ln/>
          <a:effectLst>
            <a:outerShdw blurRad="101600" dist="38100" dir="5400000" algn="bl" rotWithShape="0">
              <a:srgbClr val="999999">
                <a:alpha val="22000"/>
              </a:srgbClr>
            </a:outerShdw>
          </a:effectLst>
        </p:spPr>
        <p:txBody>
          <a:bodyPr/>
          <a:lstStyle/>
          <a:p>
            <a:endParaRPr lang="en-US"/>
          </a:p>
        </p:txBody>
      </p:sp>
      <p:sp>
        <p:nvSpPr>
          <p:cNvPr id="6" name="Text 4"/>
          <p:cNvSpPr txBox="1"/>
          <p:nvPr/>
        </p:nvSpPr>
        <p:spPr>
          <a:xfrm>
            <a:off x="914400" y="1600200"/>
            <a:ext cx="10360152" cy="365760"/>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How you give a model knowledge it wasn't trained on.</a:t>
            </a:r>
            <a:endParaRPr lang="en-US" sz="1400" dirty="0"/>
          </a:p>
        </p:txBody>
      </p:sp>
      <p:sp>
        <p:nvSpPr>
          <p:cNvPr id="7" name="Shape 5"/>
          <p:cNvSpPr/>
          <p:nvPr/>
        </p:nvSpPr>
        <p:spPr>
          <a:xfrm>
            <a:off x="914400" y="2103120"/>
            <a:ext cx="967958" cy="1600200"/>
          </a:xfrm>
          <a:prstGeom prst="roundRect">
            <a:avLst>
              <a:gd name="adj" fmla="val 7557"/>
            </a:avLst>
          </a:prstGeom>
          <a:solidFill>
            <a:srgbClr val="FFFFFF"/>
          </a:solidFill>
          <a:ln w="19050">
            <a:solidFill>
              <a:srgbClr val="FF9900"/>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197211" y="2267712"/>
            <a:ext cx="402336" cy="402336"/>
          </a:xfrm>
          <a:prstGeom prst="rect">
            <a:avLst/>
          </a:prstGeom>
        </p:spPr>
      </p:pic>
      <p:sp>
        <p:nvSpPr>
          <p:cNvPr id="9" name="Text 6"/>
          <p:cNvSpPr txBox="1"/>
          <p:nvPr/>
        </p:nvSpPr>
        <p:spPr>
          <a:xfrm>
            <a:off x="960120" y="2761488"/>
            <a:ext cx="876518" cy="822960"/>
          </a:xfrm>
          <a:prstGeom prst="rect">
            <a:avLst/>
          </a:prstGeom>
          <a:noFill/>
          <a:ln/>
        </p:spPr>
        <p:txBody>
          <a:bodyPr wrap="square" lIns="0" tIns="0" rIns="0" bIns="0" rtlCol="0" anchor="t"/>
          <a:lstStyle/>
          <a:p>
            <a:pPr marL="0" indent="0" algn="ctr">
              <a:buNone/>
            </a:pPr>
            <a:r>
              <a:rPr lang="en-US" sz="1050" b="1" dirty="0">
                <a:solidFill>
                  <a:srgbClr val="232F3E"/>
                </a:solidFill>
                <a:latin typeface="Calibri" pitchFamily="34" charset="0"/>
                <a:ea typeface="Calibri" pitchFamily="34" charset="-122"/>
                <a:cs typeface="Calibri" pitchFamily="34" charset="-120"/>
              </a:rPr>
              <a:t>Document</a:t>
            </a:r>
            <a:endParaRPr lang="en-US" sz="1050" dirty="0"/>
          </a:p>
        </p:txBody>
      </p:sp>
      <p:sp>
        <p:nvSpPr>
          <p:cNvPr id="10" name="Text 7"/>
          <p:cNvSpPr txBox="1"/>
          <p:nvPr/>
        </p:nvSpPr>
        <p:spPr>
          <a:xfrm>
            <a:off x="1882358" y="2702052"/>
            <a:ext cx="256032" cy="402336"/>
          </a:xfrm>
          <a:prstGeom prst="rect">
            <a:avLst/>
          </a:prstGeom>
          <a:noFill/>
          <a:ln/>
        </p:spPr>
        <p:txBody>
          <a:bodyPr wrap="square" lIns="0" tIns="0" rIns="0" bIns="0"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2430998" y="2103120"/>
            <a:ext cx="967958" cy="1600200"/>
          </a:xfrm>
          <a:prstGeom prst="roundRect">
            <a:avLst>
              <a:gd name="adj" fmla="val 7557"/>
            </a:avLst>
          </a:prstGeom>
          <a:solidFill>
            <a:srgbClr val="FFFFFF"/>
          </a:solidFill>
          <a:ln w="19050">
            <a:solidFill>
              <a:srgbClr val="FF9900"/>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2713809" y="2267712"/>
            <a:ext cx="402336" cy="402336"/>
          </a:xfrm>
          <a:prstGeom prst="rect">
            <a:avLst/>
          </a:prstGeom>
        </p:spPr>
      </p:pic>
      <p:sp>
        <p:nvSpPr>
          <p:cNvPr id="13" name="Text 9"/>
          <p:cNvSpPr txBox="1"/>
          <p:nvPr/>
        </p:nvSpPr>
        <p:spPr>
          <a:xfrm>
            <a:off x="2476718" y="2761488"/>
            <a:ext cx="876518" cy="822960"/>
          </a:xfrm>
          <a:prstGeom prst="rect">
            <a:avLst/>
          </a:prstGeom>
          <a:noFill/>
          <a:ln/>
        </p:spPr>
        <p:txBody>
          <a:bodyPr wrap="square" lIns="0" tIns="0" rIns="0" bIns="0" rtlCol="0" anchor="t"/>
          <a:lstStyle/>
          <a:p>
            <a:pPr marL="0" indent="0" algn="ctr">
              <a:buNone/>
            </a:pPr>
            <a:r>
              <a:rPr lang="en-US" sz="1050" b="1" dirty="0">
                <a:solidFill>
                  <a:srgbClr val="232F3E"/>
                </a:solidFill>
                <a:latin typeface="Calibri" pitchFamily="34" charset="0"/>
                <a:ea typeface="Calibri" pitchFamily="34" charset="-122"/>
                <a:cs typeface="Calibri" pitchFamily="34" charset="-120"/>
              </a:rPr>
              <a:t>Chunk</a:t>
            </a:r>
            <a:endParaRPr lang="en-US" sz="1050" dirty="0"/>
          </a:p>
        </p:txBody>
      </p:sp>
      <p:sp>
        <p:nvSpPr>
          <p:cNvPr id="14" name="Text 10"/>
          <p:cNvSpPr txBox="1"/>
          <p:nvPr/>
        </p:nvSpPr>
        <p:spPr>
          <a:xfrm>
            <a:off x="3398955" y="2702052"/>
            <a:ext cx="256032" cy="402336"/>
          </a:xfrm>
          <a:prstGeom prst="rect">
            <a:avLst/>
          </a:prstGeom>
          <a:noFill/>
          <a:ln/>
        </p:spPr>
        <p:txBody>
          <a:bodyPr wrap="square" lIns="0" tIns="0" rIns="0" bIns="0"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5" name="Shape 11"/>
          <p:cNvSpPr/>
          <p:nvPr/>
        </p:nvSpPr>
        <p:spPr>
          <a:xfrm>
            <a:off x="3947595" y="2103120"/>
            <a:ext cx="967958" cy="1600200"/>
          </a:xfrm>
          <a:prstGeom prst="roundRect">
            <a:avLst>
              <a:gd name="adj" fmla="val 7557"/>
            </a:avLst>
          </a:prstGeom>
          <a:solidFill>
            <a:srgbClr val="FFFFFF"/>
          </a:solidFill>
          <a:ln w="19050">
            <a:solidFill>
              <a:srgbClr val="FF9900"/>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4230406" y="2267712"/>
            <a:ext cx="402336" cy="402336"/>
          </a:xfrm>
          <a:prstGeom prst="rect">
            <a:avLst/>
          </a:prstGeom>
        </p:spPr>
      </p:pic>
      <p:sp>
        <p:nvSpPr>
          <p:cNvPr id="17" name="Text 12"/>
          <p:cNvSpPr txBox="1"/>
          <p:nvPr/>
        </p:nvSpPr>
        <p:spPr>
          <a:xfrm>
            <a:off x="3993315" y="2761488"/>
            <a:ext cx="876518" cy="822960"/>
          </a:xfrm>
          <a:prstGeom prst="rect">
            <a:avLst/>
          </a:prstGeom>
          <a:noFill/>
          <a:ln/>
        </p:spPr>
        <p:txBody>
          <a:bodyPr wrap="square" lIns="0" tIns="0" rIns="0" bIns="0" rtlCol="0" anchor="t"/>
          <a:lstStyle/>
          <a:p>
            <a:pPr marL="0" indent="0" algn="ctr">
              <a:buNone/>
            </a:pPr>
            <a:r>
              <a:rPr lang="en-US" sz="1050" b="1" dirty="0">
                <a:solidFill>
                  <a:srgbClr val="232F3E"/>
                </a:solidFill>
                <a:latin typeface="Calibri" pitchFamily="34" charset="0"/>
                <a:ea typeface="Calibri" pitchFamily="34" charset="-122"/>
                <a:cs typeface="Calibri" pitchFamily="34" charset="-120"/>
              </a:rPr>
              <a:t>Embed</a:t>
            </a:r>
            <a:endParaRPr lang="en-US" sz="1050" dirty="0"/>
          </a:p>
        </p:txBody>
      </p:sp>
      <p:sp>
        <p:nvSpPr>
          <p:cNvPr id="18" name="Text 13"/>
          <p:cNvSpPr txBox="1"/>
          <p:nvPr/>
        </p:nvSpPr>
        <p:spPr>
          <a:xfrm>
            <a:off x="4915553" y="2702052"/>
            <a:ext cx="256032" cy="402336"/>
          </a:xfrm>
          <a:prstGeom prst="rect">
            <a:avLst/>
          </a:prstGeom>
          <a:noFill/>
          <a:ln/>
        </p:spPr>
        <p:txBody>
          <a:bodyPr wrap="square" lIns="0" tIns="0" rIns="0" bIns="0"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9" name="Shape 14"/>
          <p:cNvSpPr/>
          <p:nvPr/>
        </p:nvSpPr>
        <p:spPr>
          <a:xfrm>
            <a:off x="5464193" y="2103120"/>
            <a:ext cx="967958" cy="1600200"/>
          </a:xfrm>
          <a:prstGeom prst="roundRect">
            <a:avLst>
              <a:gd name="adj" fmla="val 7557"/>
            </a:avLst>
          </a:prstGeom>
          <a:solidFill>
            <a:srgbClr val="FFFFFF"/>
          </a:solidFill>
          <a:ln w="19050">
            <a:solidFill>
              <a:srgbClr val="FF9900"/>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5747004" y="2267712"/>
            <a:ext cx="402336" cy="402336"/>
          </a:xfrm>
          <a:prstGeom prst="rect">
            <a:avLst/>
          </a:prstGeom>
        </p:spPr>
      </p:pic>
      <p:sp>
        <p:nvSpPr>
          <p:cNvPr id="21" name="Text 15"/>
          <p:cNvSpPr txBox="1"/>
          <p:nvPr/>
        </p:nvSpPr>
        <p:spPr>
          <a:xfrm>
            <a:off x="5509913" y="2761488"/>
            <a:ext cx="876518" cy="822960"/>
          </a:xfrm>
          <a:prstGeom prst="rect">
            <a:avLst/>
          </a:prstGeom>
          <a:noFill/>
          <a:ln/>
        </p:spPr>
        <p:txBody>
          <a:bodyPr wrap="square" lIns="0" tIns="0" rIns="0" bIns="0" rtlCol="0" anchor="t"/>
          <a:lstStyle/>
          <a:p>
            <a:pPr marL="0" indent="0" algn="ctr">
              <a:buNone/>
            </a:pPr>
            <a:r>
              <a:rPr lang="en-US" sz="1050" b="1" dirty="0">
                <a:solidFill>
                  <a:srgbClr val="232F3E"/>
                </a:solidFill>
                <a:latin typeface="Calibri" pitchFamily="34" charset="0"/>
                <a:ea typeface="Calibri" pitchFamily="34" charset="-122"/>
                <a:cs typeface="Calibri" pitchFamily="34" charset="-120"/>
              </a:rPr>
              <a:t>Vector DB</a:t>
            </a:r>
            <a:endParaRPr lang="en-US" sz="1050" dirty="0"/>
          </a:p>
        </p:txBody>
      </p:sp>
      <p:sp>
        <p:nvSpPr>
          <p:cNvPr id="22" name="Text 16"/>
          <p:cNvSpPr txBox="1"/>
          <p:nvPr/>
        </p:nvSpPr>
        <p:spPr>
          <a:xfrm>
            <a:off x="6432151" y="2702052"/>
            <a:ext cx="256032" cy="402336"/>
          </a:xfrm>
          <a:prstGeom prst="rect">
            <a:avLst/>
          </a:prstGeom>
          <a:noFill/>
          <a:ln/>
        </p:spPr>
        <p:txBody>
          <a:bodyPr wrap="square" lIns="0" tIns="0" rIns="0" bIns="0"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23" name="Shape 17"/>
          <p:cNvSpPr/>
          <p:nvPr/>
        </p:nvSpPr>
        <p:spPr>
          <a:xfrm>
            <a:off x="6980791" y="2103120"/>
            <a:ext cx="967958" cy="1600200"/>
          </a:xfrm>
          <a:prstGeom prst="roundRect">
            <a:avLst>
              <a:gd name="adj" fmla="val 7557"/>
            </a:avLst>
          </a:prstGeom>
          <a:solidFill>
            <a:srgbClr val="FFFFFF"/>
          </a:solidFill>
          <a:ln w="19050">
            <a:solidFill>
              <a:srgbClr val="FF9900"/>
            </a:solidFill>
            <a:prstDash val="solid"/>
          </a:ln>
        </p:spPr>
        <p:txBody>
          <a:bodyPr/>
          <a:lstStyle/>
          <a:p>
            <a:endParaRPr lang="en-US"/>
          </a:p>
        </p:txBody>
      </p:sp>
      <p:pic>
        <p:nvPicPr>
          <p:cNvPr id="24" name="Image 4" descr="preencoded.png"/>
          <p:cNvPicPr>
            <a:picLocks noChangeAspect="1"/>
          </p:cNvPicPr>
          <p:nvPr/>
        </p:nvPicPr>
        <p:blipFill>
          <a:blip r:embed="rId7"/>
          <a:stretch>
            <a:fillRect/>
          </a:stretch>
        </p:blipFill>
        <p:spPr>
          <a:xfrm>
            <a:off x="7263602" y="2267712"/>
            <a:ext cx="402336" cy="402336"/>
          </a:xfrm>
          <a:prstGeom prst="rect">
            <a:avLst/>
          </a:prstGeom>
        </p:spPr>
      </p:pic>
      <p:sp>
        <p:nvSpPr>
          <p:cNvPr id="25" name="Text 18"/>
          <p:cNvSpPr txBox="1"/>
          <p:nvPr/>
        </p:nvSpPr>
        <p:spPr>
          <a:xfrm>
            <a:off x="7026511" y="2761488"/>
            <a:ext cx="876518" cy="822960"/>
          </a:xfrm>
          <a:prstGeom prst="rect">
            <a:avLst/>
          </a:prstGeom>
          <a:noFill/>
          <a:ln/>
        </p:spPr>
        <p:txBody>
          <a:bodyPr wrap="square" lIns="0" tIns="0" rIns="0" bIns="0" rtlCol="0" anchor="t"/>
          <a:lstStyle/>
          <a:p>
            <a:pPr marL="0" indent="0" algn="ctr">
              <a:buNone/>
            </a:pPr>
            <a:r>
              <a:rPr lang="en-US" sz="1050" b="1" dirty="0">
                <a:solidFill>
                  <a:srgbClr val="232F3E"/>
                </a:solidFill>
                <a:latin typeface="Calibri" pitchFamily="34" charset="0"/>
                <a:ea typeface="Calibri" pitchFamily="34" charset="-122"/>
                <a:cs typeface="Calibri" pitchFamily="34" charset="-120"/>
              </a:rPr>
              <a:t>Retrieve</a:t>
            </a:r>
            <a:endParaRPr lang="en-US" sz="1050" dirty="0"/>
          </a:p>
        </p:txBody>
      </p:sp>
      <p:sp>
        <p:nvSpPr>
          <p:cNvPr id="26" name="Text 19"/>
          <p:cNvSpPr txBox="1"/>
          <p:nvPr/>
        </p:nvSpPr>
        <p:spPr>
          <a:xfrm>
            <a:off x="7948749" y="2702052"/>
            <a:ext cx="256032" cy="402336"/>
          </a:xfrm>
          <a:prstGeom prst="rect">
            <a:avLst/>
          </a:prstGeom>
          <a:noFill/>
          <a:ln/>
        </p:spPr>
        <p:txBody>
          <a:bodyPr wrap="square" lIns="0" tIns="0" rIns="0" bIns="0"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27" name="Shape 20"/>
          <p:cNvSpPr/>
          <p:nvPr/>
        </p:nvSpPr>
        <p:spPr>
          <a:xfrm>
            <a:off x="8497389" y="2103120"/>
            <a:ext cx="967958" cy="1600200"/>
          </a:xfrm>
          <a:prstGeom prst="roundRect">
            <a:avLst>
              <a:gd name="adj" fmla="val 7557"/>
            </a:avLst>
          </a:prstGeom>
          <a:solidFill>
            <a:srgbClr val="FFFFFF"/>
          </a:solidFill>
          <a:ln w="19050">
            <a:solidFill>
              <a:srgbClr val="FF9900"/>
            </a:solidFill>
            <a:prstDash val="solid"/>
          </a:ln>
        </p:spPr>
        <p:txBody>
          <a:bodyPr/>
          <a:lstStyle/>
          <a:p>
            <a:endParaRPr lang="en-US"/>
          </a:p>
        </p:txBody>
      </p:sp>
      <p:pic>
        <p:nvPicPr>
          <p:cNvPr id="28" name="Image 5" descr="preencoded.png"/>
          <p:cNvPicPr>
            <a:picLocks noChangeAspect="1"/>
          </p:cNvPicPr>
          <p:nvPr/>
        </p:nvPicPr>
        <p:blipFill>
          <a:blip r:embed="rId8"/>
          <a:stretch>
            <a:fillRect/>
          </a:stretch>
        </p:blipFill>
        <p:spPr>
          <a:xfrm>
            <a:off x="8780199" y="2267712"/>
            <a:ext cx="402336" cy="402336"/>
          </a:xfrm>
          <a:prstGeom prst="rect">
            <a:avLst/>
          </a:prstGeom>
        </p:spPr>
      </p:pic>
      <p:sp>
        <p:nvSpPr>
          <p:cNvPr id="29" name="Text 21"/>
          <p:cNvSpPr txBox="1"/>
          <p:nvPr/>
        </p:nvSpPr>
        <p:spPr>
          <a:xfrm>
            <a:off x="8543109" y="2761488"/>
            <a:ext cx="876518" cy="822960"/>
          </a:xfrm>
          <a:prstGeom prst="rect">
            <a:avLst/>
          </a:prstGeom>
          <a:noFill/>
          <a:ln/>
        </p:spPr>
        <p:txBody>
          <a:bodyPr wrap="square" lIns="0" tIns="0" rIns="0" bIns="0" rtlCol="0" anchor="t"/>
          <a:lstStyle/>
          <a:p>
            <a:pPr marL="0" indent="0" algn="ctr">
              <a:buNone/>
            </a:pPr>
            <a:r>
              <a:rPr lang="en-US" sz="1050" b="1" dirty="0">
                <a:solidFill>
                  <a:srgbClr val="232F3E"/>
                </a:solidFill>
                <a:latin typeface="Calibri" pitchFamily="34" charset="0"/>
                <a:ea typeface="Calibri" pitchFamily="34" charset="-122"/>
                <a:cs typeface="Calibri" pitchFamily="34" charset="-120"/>
              </a:rPr>
              <a:t>Inject into Prompt</a:t>
            </a:r>
            <a:endParaRPr lang="en-US" sz="1050" dirty="0"/>
          </a:p>
        </p:txBody>
      </p:sp>
      <p:sp>
        <p:nvSpPr>
          <p:cNvPr id="30" name="Text 22"/>
          <p:cNvSpPr txBox="1"/>
          <p:nvPr/>
        </p:nvSpPr>
        <p:spPr>
          <a:xfrm>
            <a:off x="9465346" y="2702052"/>
            <a:ext cx="256032" cy="402336"/>
          </a:xfrm>
          <a:prstGeom prst="rect">
            <a:avLst/>
          </a:prstGeom>
          <a:noFill/>
          <a:ln/>
        </p:spPr>
        <p:txBody>
          <a:bodyPr wrap="square" lIns="0" tIns="0" rIns="0" bIns="0" rtlCol="0" anchor="ctr"/>
          <a:lstStyle/>
          <a:p>
            <a:pPr marL="0" indent="0" algn="ctr">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31" name="Shape 23"/>
          <p:cNvSpPr/>
          <p:nvPr/>
        </p:nvSpPr>
        <p:spPr>
          <a:xfrm>
            <a:off x="10013986" y="2103120"/>
            <a:ext cx="967958" cy="1600200"/>
          </a:xfrm>
          <a:prstGeom prst="roundRect">
            <a:avLst>
              <a:gd name="adj" fmla="val 7557"/>
            </a:avLst>
          </a:prstGeom>
          <a:solidFill>
            <a:srgbClr val="FFFFFF"/>
          </a:solidFill>
          <a:ln w="19050">
            <a:solidFill>
              <a:srgbClr val="FF9900"/>
            </a:solidFill>
            <a:prstDash val="solid"/>
          </a:ln>
        </p:spPr>
        <p:txBody>
          <a:bodyPr/>
          <a:lstStyle/>
          <a:p>
            <a:endParaRPr lang="en-US"/>
          </a:p>
        </p:txBody>
      </p:sp>
      <p:pic>
        <p:nvPicPr>
          <p:cNvPr id="32" name="Image 6" descr="preencoded.png"/>
          <p:cNvPicPr>
            <a:picLocks noChangeAspect="1"/>
          </p:cNvPicPr>
          <p:nvPr/>
        </p:nvPicPr>
        <p:blipFill>
          <a:blip r:embed="rId9"/>
          <a:stretch>
            <a:fillRect/>
          </a:stretch>
        </p:blipFill>
        <p:spPr>
          <a:xfrm>
            <a:off x="10296797" y="2267712"/>
            <a:ext cx="402336" cy="402336"/>
          </a:xfrm>
          <a:prstGeom prst="rect">
            <a:avLst/>
          </a:prstGeom>
        </p:spPr>
      </p:pic>
      <p:sp>
        <p:nvSpPr>
          <p:cNvPr id="33" name="Text 24"/>
          <p:cNvSpPr txBox="1"/>
          <p:nvPr/>
        </p:nvSpPr>
        <p:spPr>
          <a:xfrm>
            <a:off x="10059706" y="2761488"/>
            <a:ext cx="876518" cy="822960"/>
          </a:xfrm>
          <a:prstGeom prst="rect">
            <a:avLst/>
          </a:prstGeom>
          <a:noFill/>
          <a:ln/>
        </p:spPr>
        <p:txBody>
          <a:bodyPr wrap="square" lIns="0" tIns="0" rIns="0" bIns="0" rtlCol="0" anchor="t"/>
          <a:lstStyle/>
          <a:p>
            <a:pPr marL="0" indent="0" algn="ctr">
              <a:buNone/>
            </a:pPr>
            <a:r>
              <a:rPr lang="en-US" sz="1050" b="1" dirty="0">
                <a:solidFill>
                  <a:srgbClr val="232F3E"/>
                </a:solidFill>
                <a:latin typeface="Calibri" pitchFamily="34" charset="0"/>
                <a:ea typeface="Calibri" pitchFamily="34" charset="-122"/>
                <a:cs typeface="Calibri" pitchFamily="34" charset="-120"/>
              </a:rPr>
              <a:t>Grounded Answer</a:t>
            </a:r>
            <a:endParaRPr lang="en-US" sz="1050" dirty="0"/>
          </a:p>
        </p:txBody>
      </p:sp>
      <p:sp>
        <p:nvSpPr>
          <p:cNvPr id="34" name="Text 25"/>
          <p:cNvSpPr txBox="1"/>
          <p:nvPr/>
        </p:nvSpPr>
        <p:spPr>
          <a:xfrm>
            <a:off x="914400" y="4023360"/>
            <a:ext cx="10360152" cy="201168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Vector stores like OpenSearch Service, Bedrock Knowledge Bases, or Aurora with pgvector power the semantic search step.</a:t>
            </a:r>
            <a:endParaRPr lang="en-US" sz="1300" dirty="0"/>
          </a:p>
          <a:p>
            <a:pPr marL="203200" indent="-2032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Chunking strategy and embedding model choice directly affect how relevant the retrieved context is.</a:t>
            </a:r>
            <a:endParaRPr lang="en-US" sz="1300" dirty="0"/>
          </a:p>
          <a:p>
            <a:pPr marL="203200" indent="-2032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Bedrock Prompt Management and Prompt Flows add governance: versioning, approvals, and reusable templates.</a:t>
            </a:r>
            <a:endParaRPr lang="en-US" sz="1300" dirty="0"/>
          </a:p>
        </p:txBody>
      </p:sp>
      <p:sp>
        <p:nvSpPr>
          <p:cNvPr id="35" name="Shape 26"/>
          <p:cNvSpPr/>
          <p:nvPr/>
        </p:nvSpPr>
        <p:spPr>
          <a:xfrm>
            <a:off x="548640" y="6263640"/>
            <a:ext cx="11091672" cy="530352"/>
          </a:xfrm>
          <a:prstGeom prst="roundRect">
            <a:avLst>
              <a:gd name="adj" fmla="val 13793"/>
            </a:avLst>
          </a:prstGeom>
          <a:solidFill>
            <a:srgbClr val="FFF3E0"/>
          </a:solidFill>
          <a:ln/>
        </p:spPr>
        <p:txBody>
          <a:bodyPr/>
          <a:lstStyle/>
          <a:p>
            <a:endParaRPr lang="en-US"/>
          </a:p>
        </p:txBody>
      </p:sp>
      <p:sp>
        <p:nvSpPr>
          <p:cNvPr id="36" name="Text 27"/>
          <p:cNvSpPr txBox="1"/>
          <p:nvPr/>
        </p:nvSpPr>
        <p:spPr>
          <a:xfrm>
            <a:off x="868680" y="6263640"/>
            <a:ext cx="10451592" cy="530352"/>
          </a:xfrm>
          <a:prstGeom prst="rect">
            <a:avLst/>
          </a:prstGeom>
          <a:noFill/>
          <a:ln/>
        </p:spPr>
        <p:txBody>
          <a:bodyPr wrap="square" lIns="0" tIns="0" rIns="0" bIns="0" rtlCol="0" anchor="ctr"/>
          <a:lstStyle/>
          <a:p>
            <a:pPr marL="0" indent="0">
              <a:buNone/>
            </a:pPr>
            <a:r>
              <a:rPr lang="en-US" sz="1250" b="1" dirty="0">
                <a:solidFill>
                  <a:srgbClr val="232F3E"/>
                </a:solidFill>
                <a:latin typeface="Calibri" pitchFamily="34" charset="0"/>
                <a:ea typeface="Calibri" pitchFamily="34" charset="-122"/>
                <a:cs typeface="Calibri" pitchFamily="34" charset="-120"/>
              </a:rPr>
              <a:t>Key takeaway:  </a:t>
            </a:r>
            <a:r>
              <a:rPr lang="en-US" sz="1250" dirty="0">
                <a:solidFill>
                  <a:srgbClr val="2B2B2B"/>
                </a:solidFill>
                <a:latin typeface="Calibri" pitchFamily="34" charset="0"/>
                <a:ea typeface="Calibri" pitchFamily="34" charset="-122"/>
                <a:cs typeface="Calibri" pitchFamily="34" charset="-120"/>
              </a:rPr>
              <a:t>RAG lets a model answer questions about your private data without retraining it.</a:t>
            </a:r>
            <a:endParaRPr lang="en-US" sz="1250" dirty="0"/>
          </a:p>
        </p:txBody>
      </p:sp>
    </p:spTree>
  </p:cSld>
  <p:clrMapOvr>
    <a:masterClrMapping/>
  </p:clrMapOvr>
  <mc:AlternateContent xmlns:mc="http://schemas.openxmlformats.org/markup-compatibility/2006" xmlns:p14="http://schemas.microsoft.com/office/powerpoint/2010/main">
    <mc:Choice Requires="p14">
      <p:transition spd="slow" p14:dur="2000" advTm="114126"/>
    </mc:Choice>
    <mc:Fallback xmlns="">
      <p:transition spd="slow" advTm="11412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32F3E"/>
          </a:solidFill>
          <a:ln/>
        </p:spPr>
        <p:txBody>
          <a:bodyPr/>
          <a:lstStyle/>
          <a:p>
            <a:endParaRPr lang="en-US"/>
          </a:p>
        </p:txBody>
      </p:sp>
      <p:sp>
        <p:nvSpPr>
          <p:cNvPr id="3" name="Text 1"/>
          <p:cNvSpPr txBox="1"/>
          <p:nvPr/>
        </p:nvSpPr>
        <p:spPr>
          <a:xfrm>
            <a:off x="548640" y="164592"/>
            <a:ext cx="9144000" cy="292608"/>
          </a:xfrm>
          <a:prstGeom prst="rect">
            <a:avLst/>
          </a:prstGeom>
          <a:noFill/>
          <a:ln/>
        </p:spPr>
        <p:txBody>
          <a:bodyPr wrap="square" lIns="0" tIns="0" rIns="0" bIns="0" rtlCol="0" anchor="ctr"/>
          <a:lstStyle/>
          <a:p>
            <a:pPr marL="0" indent="0">
              <a:buNone/>
            </a:pPr>
            <a:r>
              <a:rPr lang="en-US" sz="1300" b="1" kern="0" spc="200" dirty="0">
                <a:solidFill>
                  <a:srgbClr val="FF9900"/>
                </a:solidFill>
                <a:latin typeface="Calibri" pitchFamily="34" charset="0"/>
                <a:ea typeface="Calibri" pitchFamily="34" charset="-122"/>
                <a:cs typeface="Calibri" pitchFamily="34" charset="-120"/>
              </a:rPr>
              <a:t>TOPIC 2 OF 3</a:t>
            </a:r>
            <a:endParaRPr lang="en-US" sz="1300" dirty="0"/>
          </a:p>
        </p:txBody>
      </p:sp>
      <p:sp>
        <p:nvSpPr>
          <p:cNvPr id="4" name="Text 2"/>
          <p:cNvSpPr txBox="1"/>
          <p:nvPr/>
        </p:nvSpPr>
        <p:spPr>
          <a:xfrm>
            <a:off x="548640" y="438912"/>
            <a:ext cx="11064240" cy="713232"/>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Agentic AI &amp; Tool Integration</a:t>
            </a:r>
            <a:endParaRPr lang="en-US" sz="2700" dirty="0"/>
          </a:p>
        </p:txBody>
      </p:sp>
      <p:sp>
        <p:nvSpPr>
          <p:cNvPr id="5" name="Shape 3"/>
          <p:cNvSpPr/>
          <p:nvPr/>
        </p:nvSpPr>
        <p:spPr>
          <a:xfrm>
            <a:off x="640080" y="1508760"/>
            <a:ext cx="10908792" cy="4160520"/>
          </a:xfrm>
          <a:prstGeom prst="roundRect">
            <a:avLst>
              <a:gd name="adj" fmla="val 2198"/>
            </a:avLst>
          </a:prstGeom>
          <a:solidFill>
            <a:srgbClr val="F5F6F8"/>
          </a:solidFill>
          <a:ln/>
          <a:effectLst>
            <a:outerShdw blurRad="101600" dist="38100" dir="5400000" algn="bl" rotWithShape="0">
              <a:srgbClr val="999999">
                <a:alpha val="22000"/>
              </a:srgbClr>
            </a:outerShdw>
          </a:effectLst>
        </p:spPr>
        <p:txBody>
          <a:bodyPr/>
          <a:lstStyle/>
          <a:p>
            <a:endParaRPr lang="en-US"/>
          </a:p>
        </p:txBody>
      </p:sp>
      <p:sp>
        <p:nvSpPr>
          <p:cNvPr id="6" name="Shape 4"/>
          <p:cNvSpPr/>
          <p:nvPr/>
        </p:nvSpPr>
        <p:spPr>
          <a:xfrm>
            <a:off x="1005840" y="1828800"/>
            <a:ext cx="777240" cy="777240"/>
          </a:xfrm>
          <a:prstGeom prst="ellipse">
            <a:avLst/>
          </a:prstGeom>
          <a:solidFill>
            <a:srgbClr val="FFFFFF"/>
          </a:solidFill>
          <a:ln w="25400">
            <a:solidFill>
              <a:srgbClr val="FF9900"/>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152144" y="1975104"/>
            <a:ext cx="484632" cy="484632"/>
          </a:xfrm>
          <a:prstGeom prst="rect">
            <a:avLst/>
          </a:prstGeom>
        </p:spPr>
      </p:pic>
      <p:sp>
        <p:nvSpPr>
          <p:cNvPr id="8" name="Text 5"/>
          <p:cNvSpPr txBox="1"/>
          <p:nvPr/>
        </p:nvSpPr>
        <p:spPr>
          <a:xfrm>
            <a:off x="2011680" y="1801368"/>
            <a:ext cx="9171432" cy="868680"/>
          </a:xfrm>
          <a:prstGeom prst="rect">
            <a:avLst/>
          </a:prstGeom>
          <a:noFill/>
          <a:ln/>
        </p:spPr>
        <p:txBody>
          <a:bodyPr wrap="square" lIns="0" tIns="0" rIns="0" bIns="0" rtlCol="0" anchor="t"/>
          <a:lstStyle/>
          <a:p>
            <a:pPr marL="0" indent="0">
              <a:buNone/>
            </a:pPr>
            <a:r>
              <a:rPr lang="en-US" sz="1400" i="1" dirty="0">
                <a:solidFill>
                  <a:srgbClr val="6B7280"/>
                </a:solidFill>
                <a:latin typeface="Calibri" pitchFamily="34" charset="0"/>
                <a:ea typeface="Calibri" pitchFamily="34" charset="-122"/>
                <a:cs typeface="Calibri" pitchFamily="34" charset="-120"/>
              </a:rPr>
              <a:t>Moving from "the model answers" to "the model takes action."</a:t>
            </a:r>
            <a:endParaRPr lang="en-US" sz="1400" dirty="0"/>
          </a:p>
        </p:txBody>
      </p:sp>
      <p:sp>
        <p:nvSpPr>
          <p:cNvPr id="9" name="Text 6"/>
          <p:cNvSpPr txBox="1"/>
          <p:nvPr/>
        </p:nvSpPr>
        <p:spPr>
          <a:xfrm>
            <a:off x="1051560" y="2834640"/>
            <a:ext cx="10085832" cy="201168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Agents let a foundation model break a task into steps and call external tools or APIs to complete it.</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Amazon Bedrock AgentCore and frameworks like Strands Agents provide memory, state, and orchestration for multi-step tasks.</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The Model Context Protocol (MCP) standardizes how agents discover and call tools consistently across systems.</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Safeguards like timeouts, stopping conditions, and circuit breakers keep agent behavior controlled and predictable.</a:t>
            </a:r>
            <a:endParaRPr lang="en-US" sz="1450" dirty="0"/>
          </a:p>
        </p:txBody>
      </p:sp>
      <p:sp>
        <p:nvSpPr>
          <p:cNvPr id="10" name="Shape 7"/>
          <p:cNvSpPr/>
          <p:nvPr/>
        </p:nvSpPr>
        <p:spPr>
          <a:xfrm>
            <a:off x="640080" y="5852160"/>
            <a:ext cx="10908792" cy="566928"/>
          </a:xfrm>
          <a:prstGeom prst="roundRect">
            <a:avLst>
              <a:gd name="adj" fmla="val 12903"/>
            </a:avLst>
          </a:prstGeom>
          <a:solidFill>
            <a:srgbClr val="FFF3E0"/>
          </a:solidFill>
          <a:ln/>
        </p:spPr>
        <p:txBody>
          <a:bodyPr/>
          <a:lstStyle/>
          <a:p>
            <a:endParaRPr lang="en-US"/>
          </a:p>
        </p:txBody>
      </p:sp>
      <p:sp>
        <p:nvSpPr>
          <p:cNvPr id="11" name="Text 8"/>
          <p:cNvSpPr txBox="1"/>
          <p:nvPr/>
        </p:nvSpPr>
        <p:spPr>
          <a:xfrm>
            <a:off x="960120" y="5852160"/>
            <a:ext cx="10268712" cy="566928"/>
          </a:xfrm>
          <a:prstGeom prst="rect">
            <a:avLst/>
          </a:prstGeom>
          <a:noFill/>
          <a:ln/>
        </p:spPr>
        <p:txBody>
          <a:bodyPr wrap="square" lIns="0" tIns="0" rIns="0" bIns="0" rtlCol="0" anchor="ctr"/>
          <a:lstStyle/>
          <a:p>
            <a:pPr marL="0" indent="0">
              <a:buNone/>
            </a:pPr>
            <a:r>
              <a:rPr lang="en-US" sz="1300" b="1" dirty="0">
                <a:solidFill>
                  <a:srgbClr val="232F3E"/>
                </a:solidFill>
                <a:latin typeface="Calibri" pitchFamily="34" charset="0"/>
                <a:ea typeface="Calibri" pitchFamily="34" charset="-122"/>
                <a:cs typeface="Calibri" pitchFamily="34" charset="-120"/>
              </a:rPr>
              <a:t>Key takeaway:  </a:t>
            </a:r>
            <a:r>
              <a:rPr lang="en-US" sz="1300" dirty="0">
                <a:solidFill>
                  <a:srgbClr val="2B2B2B"/>
                </a:solidFill>
                <a:latin typeface="Calibri" pitchFamily="34" charset="0"/>
                <a:ea typeface="Calibri" pitchFamily="34" charset="-122"/>
                <a:cs typeface="Calibri" pitchFamily="34" charset="-120"/>
              </a:rPr>
              <a:t>An agent is a model plus a controlled way for it to act - not just a chat interface.</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slow" p14:dur="2000" advTm="108565"/>
    </mc:Choice>
    <mc:Fallback xmlns="">
      <p:transition spd="slow" advTm="10856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32F3E"/>
          </a:solidFill>
          <a:ln/>
        </p:spPr>
        <p:txBody>
          <a:bodyPr/>
          <a:lstStyle/>
          <a:p>
            <a:endParaRPr lang="en-US"/>
          </a:p>
        </p:txBody>
      </p:sp>
      <p:sp>
        <p:nvSpPr>
          <p:cNvPr id="3" name="Text 1"/>
          <p:cNvSpPr txBox="1"/>
          <p:nvPr/>
        </p:nvSpPr>
        <p:spPr>
          <a:xfrm>
            <a:off x="548640" y="164592"/>
            <a:ext cx="9144000" cy="292608"/>
          </a:xfrm>
          <a:prstGeom prst="rect">
            <a:avLst/>
          </a:prstGeom>
          <a:noFill/>
          <a:ln/>
        </p:spPr>
        <p:txBody>
          <a:bodyPr wrap="square" lIns="0" tIns="0" rIns="0" bIns="0" rtlCol="0" anchor="ctr"/>
          <a:lstStyle/>
          <a:p>
            <a:pPr marL="0" indent="0">
              <a:buNone/>
            </a:pPr>
            <a:r>
              <a:rPr lang="en-US" sz="1300" b="1" kern="0" spc="200" dirty="0">
                <a:solidFill>
                  <a:srgbClr val="FF9900"/>
                </a:solidFill>
                <a:latin typeface="Calibri" pitchFamily="34" charset="0"/>
                <a:ea typeface="Calibri" pitchFamily="34" charset="-122"/>
                <a:cs typeface="Calibri" pitchFamily="34" charset="-120"/>
              </a:rPr>
              <a:t>TOPIC 3 OF 3</a:t>
            </a:r>
            <a:endParaRPr lang="en-US" sz="1300" dirty="0"/>
          </a:p>
        </p:txBody>
      </p:sp>
      <p:sp>
        <p:nvSpPr>
          <p:cNvPr id="4" name="Text 2"/>
          <p:cNvSpPr txBox="1"/>
          <p:nvPr/>
        </p:nvSpPr>
        <p:spPr>
          <a:xfrm>
            <a:off x="548640" y="438912"/>
            <a:ext cx="11064240" cy="713232"/>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Model Deployment &amp; Enterprise Integration</a:t>
            </a:r>
            <a:endParaRPr lang="en-US" sz="2700" dirty="0"/>
          </a:p>
        </p:txBody>
      </p:sp>
      <p:sp>
        <p:nvSpPr>
          <p:cNvPr id="5" name="Shape 3"/>
          <p:cNvSpPr/>
          <p:nvPr/>
        </p:nvSpPr>
        <p:spPr>
          <a:xfrm>
            <a:off x="640080" y="1508760"/>
            <a:ext cx="10908792" cy="4160520"/>
          </a:xfrm>
          <a:prstGeom prst="roundRect">
            <a:avLst>
              <a:gd name="adj" fmla="val 2198"/>
            </a:avLst>
          </a:prstGeom>
          <a:solidFill>
            <a:srgbClr val="F5F6F8"/>
          </a:solidFill>
          <a:ln/>
          <a:effectLst>
            <a:outerShdw blurRad="101600" dist="38100" dir="5400000" algn="bl" rotWithShape="0">
              <a:srgbClr val="999999">
                <a:alpha val="22000"/>
              </a:srgbClr>
            </a:outerShdw>
          </a:effectLst>
        </p:spPr>
        <p:txBody>
          <a:bodyPr/>
          <a:lstStyle/>
          <a:p>
            <a:endParaRPr lang="en-US"/>
          </a:p>
        </p:txBody>
      </p:sp>
      <p:sp>
        <p:nvSpPr>
          <p:cNvPr id="6" name="Shape 4"/>
          <p:cNvSpPr/>
          <p:nvPr/>
        </p:nvSpPr>
        <p:spPr>
          <a:xfrm>
            <a:off x="1005840" y="1828800"/>
            <a:ext cx="777240" cy="777240"/>
          </a:xfrm>
          <a:prstGeom prst="ellipse">
            <a:avLst/>
          </a:prstGeom>
          <a:solidFill>
            <a:srgbClr val="FFFFFF"/>
          </a:solidFill>
          <a:ln w="25400">
            <a:solidFill>
              <a:srgbClr val="FF9900"/>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152144" y="1975104"/>
            <a:ext cx="484632" cy="484632"/>
          </a:xfrm>
          <a:prstGeom prst="rect">
            <a:avLst/>
          </a:prstGeom>
        </p:spPr>
      </p:pic>
      <p:sp>
        <p:nvSpPr>
          <p:cNvPr id="8" name="Text 5"/>
          <p:cNvSpPr txBox="1"/>
          <p:nvPr/>
        </p:nvSpPr>
        <p:spPr>
          <a:xfrm>
            <a:off x="2011680" y="1801368"/>
            <a:ext cx="9171432" cy="868680"/>
          </a:xfrm>
          <a:prstGeom prst="rect">
            <a:avLst/>
          </a:prstGeom>
          <a:noFill/>
          <a:ln/>
        </p:spPr>
        <p:txBody>
          <a:bodyPr wrap="square" lIns="0" tIns="0" rIns="0" bIns="0" rtlCol="0" anchor="t"/>
          <a:lstStyle/>
          <a:p>
            <a:pPr marL="0" indent="0">
              <a:buNone/>
            </a:pPr>
            <a:r>
              <a:rPr lang="en-US" sz="1400" i="1" dirty="0">
                <a:solidFill>
                  <a:srgbClr val="6B7280"/>
                </a:solidFill>
                <a:latin typeface="Calibri" pitchFamily="34" charset="0"/>
                <a:ea typeface="Calibri" pitchFamily="34" charset="-122"/>
                <a:cs typeface="Calibri" pitchFamily="34" charset="-120"/>
              </a:rPr>
              <a:t>Getting a working prototype into a real, connected production system.</a:t>
            </a:r>
            <a:endParaRPr lang="en-US" sz="1400" dirty="0"/>
          </a:p>
        </p:txBody>
      </p:sp>
      <p:sp>
        <p:nvSpPr>
          <p:cNvPr id="9" name="Text 6"/>
          <p:cNvSpPr txBox="1"/>
          <p:nvPr/>
        </p:nvSpPr>
        <p:spPr>
          <a:xfrm>
            <a:off x="1051560" y="2834640"/>
            <a:ext cx="10085832" cy="201168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Deployment options range from on-demand Lambda invocation to Bedrock provisioned throughput to SageMaker AI endpoints.</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Enterprise integration connects GenAI features into existing systems via API Gateway, event-driven architectures, and webhooks.</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Identity federation and role-based access control keep model and data access limited to what each system actually needs.</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CI/CD pipelines with security scans and rollback support let teams ship GenAI features safely and repeatedly.</a:t>
            </a:r>
            <a:endParaRPr lang="en-US" sz="1450" dirty="0"/>
          </a:p>
        </p:txBody>
      </p:sp>
      <p:sp>
        <p:nvSpPr>
          <p:cNvPr id="10" name="Shape 7"/>
          <p:cNvSpPr/>
          <p:nvPr/>
        </p:nvSpPr>
        <p:spPr>
          <a:xfrm>
            <a:off x="640080" y="5852160"/>
            <a:ext cx="10908792" cy="566928"/>
          </a:xfrm>
          <a:prstGeom prst="roundRect">
            <a:avLst>
              <a:gd name="adj" fmla="val 12903"/>
            </a:avLst>
          </a:prstGeom>
          <a:solidFill>
            <a:srgbClr val="FFF3E0"/>
          </a:solidFill>
          <a:ln/>
        </p:spPr>
        <p:txBody>
          <a:bodyPr/>
          <a:lstStyle/>
          <a:p>
            <a:endParaRPr lang="en-US"/>
          </a:p>
        </p:txBody>
      </p:sp>
      <p:sp>
        <p:nvSpPr>
          <p:cNvPr id="11" name="Text 8"/>
          <p:cNvSpPr txBox="1"/>
          <p:nvPr/>
        </p:nvSpPr>
        <p:spPr>
          <a:xfrm>
            <a:off x="960120" y="5852160"/>
            <a:ext cx="10268712" cy="566928"/>
          </a:xfrm>
          <a:prstGeom prst="rect">
            <a:avLst/>
          </a:prstGeom>
          <a:noFill/>
          <a:ln/>
        </p:spPr>
        <p:txBody>
          <a:bodyPr wrap="square" lIns="0" tIns="0" rIns="0" bIns="0" rtlCol="0" anchor="ctr"/>
          <a:lstStyle/>
          <a:p>
            <a:pPr marL="0" indent="0">
              <a:buNone/>
            </a:pPr>
            <a:r>
              <a:rPr lang="en-US" sz="1300" b="1" dirty="0">
                <a:solidFill>
                  <a:srgbClr val="232F3E"/>
                </a:solidFill>
                <a:latin typeface="Calibri" pitchFamily="34" charset="0"/>
                <a:ea typeface="Calibri" pitchFamily="34" charset="-122"/>
                <a:cs typeface="Calibri" pitchFamily="34" charset="-120"/>
              </a:rPr>
              <a:t>Key takeaway:  </a:t>
            </a:r>
            <a:r>
              <a:rPr lang="en-US" sz="1300" dirty="0">
                <a:solidFill>
                  <a:srgbClr val="2B2B2B"/>
                </a:solidFill>
                <a:latin typeface="Calibri" pitchFamily="34" charset="0"/>
                <a:ea typeface="Calibri" pitchFamily="34" charset="-122"/>
                <a:cs typeface="Calibri" pitchFamily="34" charset="-120"/>
              </a:rPr>
              <a:t>A GenAI feature isn't "done" until it's deployed, connected, and safe to update in production.</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slow" p14:dur="2000" advTm="194504"/>
    </mc:Choice>
    <mc:Fallback xmlns="">
      <p:transition spd="slow" advTm="19450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B7202-52E2-93E0-46A6-4C1B548ED63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0F6066D-DE90-CB36-F3B4-DF8DFBB43AAC}"/>
              </a:ext>
            </a:extLst>
          </p:cNvPr>
          <p:cNvSpPr/>
          <p:nvPr/>
        </p:nvSpPr>
        <p:spPr>
          <a:xfrm>
            <a:off x="0" y="0"/>
            <a:ext cx="12188952" cy="1188720"/>
          </a:xfrm>
          <a:prstGeom prst="rect">
            <a:avLst/>
          </a:prstGeom>
          <a:solidFill>
            <a:srgbClr val="232F3E"/>
          </a:solidFill>
          <a:ln/>
        </p:spPr>
        <p:txBody>
          <a:bodyPr/>
          <a:lstStyle/>
          <a:p>
            <a:endParaRPr lang="en-US"/>
          </a:p>
        </p:txBody>
      </p:sp>
      <p:sp>
        <p:nvSpPr>
          <p:cNvPr id="12" name="TextBox 11">
            <a:extLst>
              <a:ext uri="{FF2B5EF4-FFF2-40B4-BE49-F238E27FC236}">
                <a16:creationId xmlns:a16="http://schemas.microsoft.com/office/drawing/2014/main" id="{5B66B5BD-2655-B7C2-3187-DDFF1DDD507C}"/>
              </a:ext>
            </a:extLst>
          </p:cNvPr>
          <p:cNvSpPr txBox="1"/>
          <p:nvPr/>
        </p:nvSpPr>
        <p:spPr>
          <a:xfrm>
            <a:off x="416735" y="2297750"/>
            <a:ext cx="11355353" cy="3416320"/>
          </a:xfrm>
          <a:prstGeom prst="rect">
            <a:avLst/>
          </a:prstGeom>
          <a:noFill/>
        </p:spPr>
        <p:txBody>
          <a:bodyPr wrap="none" rtlCol="0">
            <a:spAutoFit/>
          </a:bodyPr>
          <a:lstStyle/>
          <a:p>
            <a:r>
              <a:rPr lang="en-US" sz="18000" dirty="0"/>
              <a:t>THANK YOU</a:t>
            </a:r>
          </a:p>
          <a:p>
            <a:r>
              <a:rPr lang="en-US" sz="3600" dirty="0"/>
              <a:t>Any Questions feel free to comment</a:t>
            </a:r>
          </a:p>
        </p:txBody>
      </p:sp>
    </p:spTree>
    <p:extLst>
      <p:ext uri="{BB962C8B-B14F-4D97-AF65-F5344CB8AC3E}">
        <p14:creationId xmlns:p14="http://schemas.microsoft.com/office/powerpoint/2010/main" val="990885268"/>
      </p:ext>
    </p:extLst>
  </p:cSld>
  <p:clrMapOvr>
    <a:masterClrMapping/>
  </p:clrMapOvr>
  <mc:AlternateContent xmlns:mc="http://schemas.openxmlformats.org/markup-compatibility/2006" xmlns:p14="http://schemas.microsoft.com/office/powerpoint/2010/main">
    <mc:Choice Requires="p14">
      <p:transition spd="slow" p14:dur="2000" advTm="14126"/>
    </mc:Choice>
    <mc:Fallback xmlns="">
      <p:transition spd="slow" advTm="14126"/>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1318</Words>
  <Application>Microsoft Office PowerPoint</Application>
  <PresentationFormat>Custom</PresentationFormat>
  <Paragraphs>53</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Mishree Patel</cp:lastModifiedBy>
  <cp:revision>4</cp:revision>
  <dcterms:created xsi:type="dcterms:W3CDTF">2026-09-02T23:38:59Z</dcterms:created>
  <dcterms:modified xsi:type="dcterms:W3CDTF">2026-09-20T23:58:23Z</dcterms:modified>
</cp:coreProperties>
</file>